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57" r:id="rId6"/>
    <p:sldId id="287" r:id="rId7"/>
    <p:sldId id="284" r:id="rId8"/>
    <p:sldId id="262" r:id="rId9"/>
    <p:sldId id="279" r:id="rId10"/>
    <p:sldId id="280" r:id="rId11"/>
    <p:sldId id="286" r:id="rId12"/>
    <p:sldId id="288" r:id="rId13"/>
    <p:sldId id="289" r:id="rId14"/>
    <p:sldId id="290" r:id="rId15"/>
    <p:sldId id="291" r:id="rId16"/>
    <p:sldId id="282" r:id="rId17"/>
  </p:sldIdLst>
  <p:sldSz cx="9144000" cy="6858000" type="screen4x3"/>
  <p:notesSz cx="6858000" cy="9144000"/>
  <p:embeddedFontLst>
    <p:embeddedFont>
      <p:font typeface="Cooper Black" panose="0208090404030B020404" pitchFamily="18" charset="0"/>
      <p:regular r:id="rId19"/>
    </p:embeddedFont>
    <p:embeddedFont>
      <p:font typeface="Gill Sans" panose="020B0604020202020204" charset="0"/>
      <p:bold r:id="rId20"/>
    </p:embeddedFont>
    <p:embeddedFont>
      <p:font typeface="Libre Franklin" pitchFamily="2" charset="0"/>
      <p:regular r:id="rId21"/>
      <p:bold r:id="rId22"/>
      <p:italic r:id="rId23"/>
      <p:boldItalic r:id="rId24"/>
    </p:embeddedFont>
    <p:embeddedFont>
      <p:font typeface="Libre Franklin Medium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WePisvvyBzmfJTbiif84+2IjX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46" autoAdjust="0"/>
  </p:normalViewPr>
  <p:slideViewPr>
    <p:cSldViewPr snapToGrid="0">
      <p:cViewPr varScale="1">
        <p:scale>
          <a:sx n="56" d="100"/>
          <a:sy n="56" d="100"/>
        </p:scale>
        <p:origin x="15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AF2CE5-1CF1-4B98-B8C3-E0F4158A8BC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2D2D335D-313B-4CC9-850E-AC75C42D90FC}">
      <dgm:prSet phldrT="[Text]" phldr="0"/>
      <dgm:spPr/>
      <dgm:t>
        <a:bodyPr/>
        <a:lstStyle/>
        <a:p>
          <a:r>
            <a:rPr lang="en-US" dirty="0"/>
            <a:t>Muhammad Rais Latif</a:t>
          </a:r>
        </a:p>
        <a:p>
          <a:r>
            <a:rPr lang="en-ID" dirty="0">
              <a:solidFill>
                <a:schemeClr val="tx1"/>
              </a:solidFill>
            </a:rPr>
            <a:t>(Commissioner)</a:t>
          </a:r>
        </a:p>
      </dgm:t>
    </dgm:pt>
    <dgm:pt modelId="{586A7E15-CA74-494B-AEEA-D8F1005B8D21}" type="parTrans" cxnId="{5C1AE1B3-7ED2-43B9-B2E2-8BF9FA918B1D}">
      <dgm:prSet/>
      <dgm:spPr/>
      <dgm:t>
        <a:bodyPr/>
        <a:lstStyle/>
        <a:p>
          <a:endParaRPr lang="en-ID"/>
        </a:p>
      </dgm:t>
    </dgm:pt>
    <dgm:pt modelId="{B668E31B-6246-4891-B72D-102EA35F77EF}" type="sibTrans" cxnId="{5C1AE1B3-7ED2-43B9-B2E2-8BF9FA918B1D}">
      <dgm:prSet/>
      <dgm:spPr/>
      <dgm:t>
        <a:bodyPr/>
        <a:lstStyle/>
        <a:p>
          <a:endParaRPr lang="en-ID"/>
        </a:p>
      </dgm:t>
    </dgm:pt>
    <dgm:pt modelId="{A01A33DE-193F-441C-85EF-ED9E939A96E4}">
      <dgm:prSet phldrT="[Text]" phldr="0" custT="1"/>
      <dgm:spPr/>
      <dgm:t>
        <a:bodyPr/>
        <a:lstStyle/>
        <a:p>
          <a:r>
            <a:rPr lang="en-US" sz="2800" dirty="0" err="1"/>
            <a:t>Syis</a:t>
          </a:r>
          <a:r>
            <a:rPr lang="en-US" sz="2800" dirty="0"/>
            <a:t> </a:t>
          </a:r>
        </a:p>
        <a:p>
          <a:r>
            <a:rPr lang="en-US" sz="2800" dirty="0"/>
            <a:t>Samsul Bahri</a:t>
          </a:r>
        </a:p>
        <a:p>
          <a:r>
            <a:rPr lang="en-ID" sz="2800" dirty="0">
              <a:solidFill>
                <a:schemeClr val="tx1"/>
              </a:solidFill>
            </a:rPr>
            <a:t>(Director)</a:t>
          </a:r>
          <a:endParaRPr lang="en-ID" sz="1800" dirty="0">
            <a:solidFill>
              <a:schemeClr val="tx1"/>
            </a:solidFill>
          </a:endParaRPr>
        </a:p>
      </dgm:t>
    </dgm:pt>
    <dgm:pt modelId="{B216DB97-06AF-47D9-9F7E-746FA0DBD078}" type="parTrans" cxnId="{BAD62137-648A-43BB-937D-D5C204717377}">
      <dgm:prSet/>
      <dgm:spPr/>
      <dgm:t>
        <a:bodyPr/>
        <a:lstStyle/>
        <a:p>
          <a:endParaRPr lang="en-ID"/>
        </a:p>
      </dgm:t>
    </dgm:pt>
    <dgm:pt modelId="{5A8885C2-0B04-40AF-9B1C-ED9E4CF560EF}" type="sibTrans" cxnId="{BAD62137-648A-43BB-937D-D5C204717377}">
      <dgm:prSet/>
      <dgm:spPr/>
      <dgm:t>
        <a:bodyPr/>
        <a:lstStyle/>
        <a:p>
          <a:endParaRPr lang="en-ID"/>
        </a:p>
      </dgm:t>
    </dgm:pt>
    <dgm:pt modelId="{F7431F2E-9B24-4357-B1BC-B042571EFCF1}" type="pres">
      <dgm:prSet presAssocID="{96AF2CE5-1CF1-4B98-B8C3-E0F4158A8BC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595A26-8EC0-42D3-958D-46CA7CCC2574}" type="pres">
      <dgm:prSet presAssocID="{2D2D335D-313B-4CC9-850E-AC75C42D90FC}" presName="hierRoot1" presStyleCnt="0">
        <dgm:presLayoutVars>
          <dgm:hierBranch val="init"/>
        </dgm:presLayoutVars>
      </dgm:prSet>
      <dgm:spPr/>
    </dgm:pt>
    <dgm:pt modelId="{B998E355-DF07-49E9-9A22-CF5E892B2215}" type="pres">
      <dgm:prSet presAssocID="{2D2D335D-313B-4CC9-850E-AC75C42D90FC}" presName="rootComposite1" presStyleCnt="0"/>
      <dgm:spPr/>
    </dgm:pt>
    <dgm:pt modelId="{EAAB2934-6F98-42B4-BB85-EC32EFBFC2A0}" type="pres">
      <dgm:prSet presAssocID="{2D2D335D-313B-4CC9-850E-AC75C42D90FC}" presName="rootText1" presStyleLbl="node0" presStyleIdx="0" presStyleCnt="1" custScaleY="198554">
        <dgm:presLayoutVars>
          <dgm:chPref val="3"/>
        </dgm:presLayoutVars>
      </dgm:prSet>
      <dgm:spPr/>
    </dgm:pt>
    <dgm:pt modelId="{C512D392-3D93-4B18-B489-2ABE269E90F0}" type="pres">
      <dgm:prSet presAssocID="{2D2D335D-313B-4CC9-850E-AC75C42D90FC}" presName="rootConnector1" presStyleLbl="node1" presStyleIdx="0" presStyleCnt="0"/>
      <dgm:spPr/>
    </dgm:pt>
    <dgm:pt modelId="{32338880-D5AD-4621-8100-B7877353542D}" type="pres">
      <dgm:prSet presAssocID="{2D2D335D-313B-4CC9-850E-AC75C42D90FC}" presName="hierChild2" presStyleCnt="0"/>
      <dgm:spPr/>
    </dgm:pt>
    <dgm:pt modelId="{058503EC-E4D6-42ED-8D96-9CFA4E5C8C22}" type="pres">
      <dgm:prSet presAssocID="{B216DB97-06AF-47D9-9F7E-746FA0DBD078}" presName="Name64" presStyleLbl="parChTrans1D2" presStyleIdx="0" presStyleCnt="1"/>
      <dgm:spPr/>
    </dgm:pt>
    <dgm:pt modelId="{D0FE4291-9DA2-4F0C-BFF5-79FE4E9F5D37}" type="pres">
      <dgm:prSet presAssocID="{A01A33DE-193F-441C-85EF-ED9E939A96E4}" presName="hierRoot2" presStyleCnt="0">
        <dgm:presLayoutVars>
          <dgm:hierBranch val="init"/>
        </dgm:presLayoutVars>
      </dgm:prSet>
      <dgm:spPr/>
    </dgm:pt>
    <dgm:pt modelId="{C3ED4BB3-49A5-42B2-8A37-973CD2DB7E32}" type="pres">
      <dgm:prSet presAssocID="{A01A33DE-193F-441C-85EF-ED9E939A96E4}" presName="rootComposite" presStyleCnt="0"/>
      <dgm:spPr/>
    </dgm:pt>
    <dgm:pt modelId="{72285DB3-D7C1-45CA-BE6A-6DDFC1ED2947}" type="pres">
      <dgm:prSet presAssocID="{A01A33DE-193F-441C-85EF-ED9E939A96E4}" presName="rootText" presStyleLbl="node2" presStyleIdx="0" presStyleCnt="1" custScaleY="193398">
        <dgm:presLayoutVars>
          <dgm:chPref val="3"/>
        </dgm:presLayoutVars>
      </dgm:prSet>
      <dgm:spPr/>
    </dgm:pt>
    <dgm:pt modelId="{909C14AB-864D-4768-BC89-1FB683570537}" type="pres">
      <dgm:prSet presAssocID="{A01A33DE-193F-441C-85EF-ED9E939A96E4}" presName="rootConnector" presStyleLbl="node2" presStyleIdx="0" presStyleCnt="1"/>
      <dgm:spPr/>
    </dgm:pt>
    <dgm:pt modelId="{1F7046A8-0C7F-415F-9A2C-F179217356AC}" type="pres">
      <dgm:prSet presAssocID="{A01A33DE-193F-441C-85EF-ED9E939A96E4}" presName="hierChild4" presStyleCnt="0"/>
      <dgm:spPr/>
    </dgm:pt>
    <dgm:pt modelId="{EF3A216F-E8BD-4EF7-9735-042701DD951A}" type="pres">
      <dgm:prSet presAssocID="{A01A33DE-193F-441C-85EF-ED9E939A96E4}" presName="hierChild5" presStyleCnt="0"/>
      <dgm:spPr/>
    </dgm:pt>
    <dgm:pt modelId="{726F371F-DFAC-4ABC-B3CD-12B111BE8EA8}" type="pres">
      <dgm:prSet presAssocID="{2D2D335D-313B-4CC9-850E-AC75C42D90FC}" presName="hierChild3" presStyleCnt="0"/>
      <dgm:spPr/>
    </dgm:pt>
  </dgm:ptLst>
  <dgm:cxnLst>
    <dgm:cxn modelId="{1B054908-E286-4D8C-922C-6F5218B1DBC3}" type="presOf" srcId="{2D2D335D-313B-4CC9-850E-AC75C42D90FC}" destId="{C512D392-3D93-4B18-B489-2ABE269E90F0}" srcOrd="1" destOrd="0" presId="urn:microsoft.com/office/officeart/2009/3/layout/HorizontalOrganizationChart"/>
    <dgm:cxn modelId="{FC9B341A-5C5F-4762-82FD-881DDA6881F8}" type="presOf" srcId="{A01A33DE-193F-441C-85EF-ED9E939A96E4}" destId="{72285DB3-D7C1-45CA-BE6A-6DDFC1ED2947}" srcOrd="0" destOrd="0" presId="urn:microsoft.com/office/officeart/2009/3/layout/HorizontalOrganizationChart"/>
    <dgm:cxn modelId="{BAD62137-648A-43BB-937D-D5C204717377}" srcId="{2D2D335D-313B-4CC9-850E-AC75C42D90FC}" destId="{A01A33DE-193F-441C-85EF-ED9E939A96E4}" srcOrd="0" destOrd="0" parTransId="{B216DB97-06AF-47D9-9F7E-746FA0DBD078}" sibTransId="{5A8885C2-0B04-40AF-9B1C-ED9E4CF560EF}"/>
    <dgm:cxn modelId="{B938033E-B116-4E11-A4F4-E9974068D2D4}" type="presOf" srcId="{B216DB97-06AF-47D9-9F7E-746FA0DBD078}" destId="{058503EC-E4D6-42ED-8D96-9CFA4E5C8C22}" srcOrd="0" destOrd="0" presId="urn:microsoft.com/office/officeart/2009/3/layout/HorizontalOrganizationChart"/>
    <dgm:cxn modelId="{D12C1EAD-1BC1-42E8-984A-D6F8053F8E01}" type="presOf" srcId="{A01A33DE-193F-441C-85EF-ED9E939A96E4}" destId="{909C14AB-864D-4768-BC89-1FB683570537}" srcOrd="1" destOrd="0" presId="urn:microsoft.com/office/officeart/2009/3/layout/HorizontalOrganizationChart"/>
    <dgm:cxn modelId="{6AB0B3B1-D89B-4490-B79B-1558BA36AC25}" type="presOf" srcId="{96AF2CE5-1CF1-4B98-B8C3-E0F4158A8BCD}" destId="{F7431F2E-9B24-4357-B1BC-B042571EFCF1}" srcOrd="0" destOrd="0" presId="urn:microsoft.com/office/officeart/2009/3/layout/HorizontalOrganizationChart"/>
    <dgm:cxn modelId="{5C1AE1B3-7ED2-43B9-B2E2-8BF9FA918B1D}" srcId="{96AF2CE5-1CF1-4B98-B8C3-E0F4158A8BCD}" destId="{2D2D335D-313B-4CC9-850E-AC75C42D90FC}" srcOrd="0" destOrd="0" parTransId="{586A7E15-CA74-494B-AEEA-D8F1005B8D21}" sibTransId="{B668E31B-6246-4891-B72D-102EA35F77EF}"/>
    <dgm:cxn modelId="{E0C7B8D6-28BA-4D9D-AC9A-E1CCCADCF567}" type="presOf" srcId="{2D2D335D-313B-4CC9-850E-AC75C42D90FC}" destId="{EAAB2934-6F98-42B4-BB85-EC32EFBFC2A0}" srcOrd="0" destOrd="0" presId="urn:microsoft.com/office/officeart/2009/3/layout/HorizontalOrganizationChart"/>
    <dgm:cxn modelId="{86FECA5A-F726-47AA-A214-E0AB3CF8762B}" type="presParOf" srcId="{F7431F2E-9B24-4357-B1BC-B042571EFCF1}" destId="{07595A26-8EC0-42D3-958D-46CA7CCC2574}" srcOrd="0" destOrd="0" presId="urn:microsoft.com/office/officeart/2009/3/layout/HorizontalOrganizationChart"/>
    <dgm:cxn modelId="{1090D792-9457-4314-A7AA-1CEA7FBA8A7D}" type="presParOf" srcId="{07595A26-8EC0-42D3-958D-46CA7CCC2574}" destId="{B998E355-DF07-49E9-9A22-CF5E892B2215}" srcOrd="0" destOrd="0" presId="urn:microsoft.com/office/officeart/2009/3/layout/HorizontalOrganizationChart"/>
    <dgm:cxn modelId="{391E458C-841C-4957-8D2A-7057131F29BC}" type="presParOf" srcId="{B998E355-DF07-49E9-9A22-CF5E892B2215}" destId="{EAAB2934-6F98-42B4-BB85-EC32EFBFC2A0}" srcOrd="0" destOrd="0" presId="urn:microsoft.com/office/officeart/2009/3/layout/HorizontalOrganizationChart"/>
    <dgm:cxn modelId="{CEE6FE24-01A3-412F-BBCC-497C62BBFB48}" type="presParOf" srcId="{B998E355-DF07-49E9-9A22-CF5E892B2215}" destId="{C512D392-3D93-4B18-B489-2ABE269E90F0}" srcOrd="1" destOrd="0" presId="urn:microsoft.com/office/officeart/2009/3/layout/HorizontalOrganizationChart"/>
    <dgm:cxn modelId="{AE3DD12C-6D99-4592-9BC1-AC5A2ED031C1}" type="presParOf" srcId="{07595A26-8EC0-42D3-958D-46CA7CCC2574}" destId="{32338880-D5AD-4621-8100-B7877353542D}" srcOrd="1" destOrd="0" presId="urn:microsoft.com/office/officeart/2009/3/layout/HorizontalOrganizationChart"/>
    <dgm:cxn modelId="{0DF4EA41-9EA4-4CEC-8AD2-665CDFA62E27}" type="presParOf" srcId="{32338880-D5AD-4621-8100-B7877353542D}" destId="{058503EC-E4D6-42ED-8D96-9CFA4E5C8C22}" srcOrd="0" destOrd="0" presId="urn:microsoft.com/office/officeart/2009/3/layout/HorizontalOrganizationChart"/>
    <dgm:cxn modelId="{C37434F1-6687-428B-8275-2EA737733AFB}" type="presParOf" srcId="{32338880-D5AD-4621-8100-B7877353542D}" destId="{D0FE4291-9DA2-4F0C-BFF5-79FE4E9F5D37}" srcOrd="1" destOrd="0" presId="urn:microsoft.com/office/officeart/2009/3/layout/HorizontalOrganizationChart"/>
    <dgm:cxn modelId="{AAAC7201-2500-41B9-848D-4671D5B7C967}" type="presParOf" srcId="{D0FE4291-9DA2-4F0C-BFF5-79FE4E9F5D37}" destId="{C3ED4BB3-49A5-42B2-8A37-973CD2DB7E32}" srcOrd="0" destOrd="0" presId="urn:microsoft.com/office/officeart/2009/3/layout/HorizontalOrganizationChart"/>
    <dgm:cxn modelId="{DD84686E-30C6-486F-B324-5937EBC172C2}" type="presParOf" srcId="{C3ED4BB3-49A5-42B2-8A37-973CD2DB7E32}" destId="{72285DB3-D7C1-45CA-BE6A-6DDFC1ED2947}" srcOrd="0" destOrd="0" presId="urn:microsoft.com/office/officeart/2009/3/layout/HorizontalOrganizationChart"/>
    <dgm:cxn modelId="{B5B35E7E-E42A-45AF-89D5-B51A3752CBA8}" type="presParOf" srcId="{C3ED4BB3-49A5-42B2-8A37-973CD2DB7E32}" destId="{909C14AB-864D-4768-BC89-1FB683570537}" srcOrd="1" destOrd="0" presId="urn:microsoft.com/office/officeart/2009/3/layout/HorizontalOrganizationChart"/>
    <dgm:cxn modelId="{51B19920-0894-4B28-8714-7BF80DAE6CA5}" type="presParOf" srcId="{D0FE4291-9DA2-4F0C-BFF5-79FE4E9F5D37}" destId="{1F7046A8-0C7F-415F-9A2C-F179217356AC}" srcOrd="1" destOrd="0" presId="urn:microsoft.com/office/officeart/2009/3/layout/HorizontalOrganizationChart"/>
    <dgm:cxn modelId="{07D9EBB0-EF56-439C-ACE3-67C488B8358F}" type="presParOf" srcId="{D0FE4291-9DA2-4F0C-BFF5-79FE4E9F5D37}" destId="{EF3A216F-E8BD-4EF7-9735-042701DD951A}" srcOrd="2" destOrd="0" presId="urn:microsoft.com/office/officeart/2009/3/layout/HorizontalOrganizationChart"/>
    <dgm:cxn modelId="{78A0B9CE-4CA4-4CD4-B668-822E2799A519}" type="presParOf" srcId="{07595A26-8EC0-42D3-958D-46CA7CCC2574}" destId="{726F371F-DFAC-4ABC-B3CD-12B111BE8EA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503EC-E4D6-42ED-8D96-9CFA4E5C8C22}">
      <dsp:nvSpPr>
        <dsp:cNvPr id="0" name=""/>
        <dsp:cNvSpPr/>
      </dsp:nvSpPr>
      <dsp:spPr>
        <a:xfrm>
          <a:off x="2771179" y="1986280"/>
          <a:ext cx="5536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3640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B2934-6F98-42B4-BB85-EC32EFBFC2A0}">
      <dsp:nvSpPr>
        <dsp:cNvPr id="0" name=""/>
        <dsp:cNvSpPr/>
      </dsp:nvSpPr>
      <dsp:spPr>
        <a:xfrm>
          <a:off x="2976" y="1193802"/>
          <a:ext cx="2768203" cy="16763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Muhammad Rais Latif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000" kern="1200" dirty="0">
              <a:solidFill>
                <a:schemeClr val="tx1"/>
              </a:solidFill>
            </a:rPr>
            <a:t>(Commissioner)</a:t>
          </a:r>
        </a:p>
      </dsp:txBody>
      <dsp:txXfrm>
        <a:off x="2976" y="1193802"/>
        <a:ext cx="2768203" cy="1676395"/>
      </dsp:txXfrm>
    </dsp:sp>
    <dsp:sp modelId="{72285DB3-D7C1-45CA-BE6A-6DDFC1ED2947}">
      <dsp:nvSpPr>
        <dsp:cNvPr id="0" name=""/>
        <dsp:cNvSpPr/>
      </dsp:nvSpPr>
      <dsp:spPr>
        <a:xfrm>
          <a:off x="3324820" y="1215568"/>
          <a:ext cx="2768203" cy="1632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Syis</a:t>
          </a:r>
          <a:r>
            <a:rPr lang="en-US" sz="2800" kern="1200" dirty="0"/>
            <a:t>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Samsul Bahri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kern="1200" dirty="0">
              <a:solidFill>
                <a:schemeClr val="tx1"/>
              </a:solidFill>
            </a:rPr>
            <a:t>(Director)</a:t>
          </a:r>
          <a:endParaRPr lang="en-ID" sz="1800" kern="1200" dirty="0">
            <a:solidFill>
              <a:schemeClr val="tx1"/>
            </a:solidFill>
          </a:endParaRPr>
        </a:p>
      </dsp:txBody>
      <dsp:txXfrm>
        <a:off x="3324820" y="1215568"/>
        <a:ext cx="2768203" cy="1632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E8C6E414-C8E4-4907-699B-1F0E22083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>
            <a:extLst>
              <a:ext uri="{FF2B5EF4-FFF2-40B4-BE49-F238E27FC236}">
                <a16:creationId xmlns:a16="http://schemas.microsoft.com/office/drawing/2014/main" id="{EE2ABF20-953C-DB6E-825E-3A4CB642F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>
            <a:extLst>
              <a:ext uri="{FF2B5EF4-FFF2-40B4-BE49-F238E27FC236}">
                <a16:creationId xmlns:a16="http://schemas.microsoft.com/office/drawing/2014/main" id="{B4CC5418-868A-B865-FEA6-EBC393BFB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283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ftr" idx="11"/>
          </p:nvPr>
        </p:nvSpPr>
        <p:spPr>
          <a:xfrm>
            <a:off x="3581400" y="76201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8229600" y="6473952"/>
            <a:ext cx="75895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304800" y="5410201"/>
            <a:ext cx="8610600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281445" y="666750"/>
            <a:ext cx="4290556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4645026" y="666750"/>
            <a:ext cx="429224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281445" y="1316038"/>
            <a:ext cx="4290556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4"/>
          </p:nvPr>
        </p:nvSpPr>
        <p:spPr>
          <a:xfrm>
            <a:off x="4648731" y="1316038"/>
            <a:ext cx="4288536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229600" y="6477000"/>
            <a:ext cx="7620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22"/>
          <p:cNvCxnSpPr/>
          <p:nvPr/>
        </p:nvCxnSpPr>
        <p:spPr>
          <a:xfrm>
            <a:off x="514349" y="6019801"/>
            <a:ext cx="8629651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25"/>
          <p:cNvCxnSpPr/>
          <p:nvPr/>
        </p:nvCxnSpPr>
        <p:spPr>
          <a:xfrm>
            <a:off x="514349" y="5849118"/>
            <a:ext cx="8629651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457200" y="5486401"/>
            <a:ext cx="84582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457201" y="609600"/>
            <a:ext cx="3008313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3575050" y="609600"/>
            <a:ext cx="534035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🞭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marL="2286000" lvl="4" indent="-3048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>
            <a:spLocks noGrp="1"/>
          </p:cNvSpPr>
          <p:nvPr>
            <p:ph type="pic" idx="2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</p:sp>
      <p:sp>
        <p:nvSpPr>
          <p:cNvPr id="70" name="Google Shape;70;p26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>
            <a:off x="381000" y="5533219"/>
            <a:ext cx="58674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8194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marL="2286000" lvl="4" indent="-262889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2385219" y="-526255"/>
            <a:ext cx="4525963" cy="8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4846638" y="2560640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655638" y="350840"/>
            <a:ext cx="5851525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7"/>
          <p:cNvCxnSpPr/>
          <p:nvPr/>
        </p:nvCxnSpPr>
        <p:spPr>
          <a:xfrm>
            <a:off x="514349" y="1050899"/>
            <a:ext cx="8629651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sz="3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6477000" y="76201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3124200" y="76201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229600" y="6477001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 sz="3600" b="0" i="0" u="none" strike="noStrike" cap="non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2" name="Google Shape;12;p17"/>
          <p:cNvCxnSpPr/>
          <p:nvPr/>
        </p:nvCxnSpPr>
        <p:spPr>
          <a:xfrm>
            <a:off x="514349" y="1050899"/>
            <a:ext cx="8629651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17"/>
          <p:cNvCxnSpPr/>
          <p:nvPr/>
        </p:nvCxnSpPr>
        <p:spPr>
          <a:xfrm>
            <a:off x="514349" y="1057987"/>
            <a:ext cx="8629651" cy="238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lisani.alafjaya@gmail.com" TargetMode="External"/><Relationship Id="rId2" Type="http://schemas.openxmlformats.org/officeDocument/2006/relationships/hyperlink" Target="mailto:info@lisanialafjaya.com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body" idx="1"/>
          </p:nvPr>
        </p:nvSpPr>
        <p:spPr>
          <a:xfrm>
            <a:off x="0" y="1800241"/>
            <a:ext cx="9144000" cy="3096344"/>
          </a:xfrm>
          <a:prstGeom prst="rect">
            <a:avLst/>
          </a:prstGeom>
          <a:gradFill>
            <a:gsLst>
              <a:gs pos="0">
                <a:srgbClr val="EEE6D9"/>
              </a:gs>
              <a:gs pos="72000">
                <a:srgbClr val="CBBD97"/>
              </a:gs>
              <a:gs pos="100000">
                <a:srgbClr val="C4B182"/>
              </a:gs>
            </a:gsLst>
            <a:lin ang="5400000" scaled="0"/>
          </a:gradFill>
          <a:ln w="100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rotWithShape="0">
              <a:srgbClr val="4E3B3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b="1" dirty="0">
              <a:latin typeface="Cooper Black" panose="0208090404030B020404" pitchFamily="18" charset="0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b="1" dirty="0">
              <a:latin typeface="Cooper Black" panose="0208090404030B020404" pitchFamily="18" charset="0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lang="en-US" b="1" dirty="0">
                <a:solidFill>
                  <a:schemeClr val="dk1"/>
                </a:solidFill>
                <a:latin typeface="Cooper Black" panose="0208090404030B020404" pitchFamily="18" charset="0"/>
                <a:ea typeface="EB Garamond"/>
                <a:cs typeface="EB Garamond"/>
                <a:sym typeface="EB Garamond"/>
              </a:rPr>
              <a:t>COMPANY PROFILE</a:t>
            </a:r>
            <a:endParaRPr b="1" dirty="0">
              <a:latin typeface="Cooper Black" panose="0208090404030B020404" pitchFamily="18" charset="0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53116" y="4487794"/>
            <a:ext cx="8290884" cy="923330"/>
          </a:xfrm>
          <a:prstGeom prst="rect">
            <a:avLst/>
          </a:prstGeom>
          <a:solidFill>
            <a:srgbClr val="0C0C0C"/>
          </a:solidFill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rotWithShape="0">
              <a:srgbClr val="4E3B3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3CC5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PT. LISANI ALAF JAYA</a:t>
            </a:r>
            <a:endParaRPr dirty="0"/>
          </a:p>
        </p:txBody>
      </p:sp>
      <p:pic>
        <p:nvPicPr>
          <p:cNvPr id="93" name="Google Shape;93;p1" descr="E:\Anisa\HARIAN\SYIS\header POLOS - kop sura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6502"/>
            <a:ext cx="8763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en-US" dirty="0"/>
              <a:t>EXECUTIVE SUMMARY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E03AD25-6A2F-6D51-5A32-29F419F46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</p:spPr>
        <p:txBody>
          <a:bodyPr>
            <a:normAutofit fontScale="92500" lnSpcReduction="20000"/>
          </a:bodyPr>
          <a:lstStyle/>
          <a:p>
            <a:pPr marL="148590" indent="0" algn="just">
              <a:buNone/>
            </a:pPr>
            <a:r>
              <a:rPr lang="en-ID" dirty="0"/>
              <a:t>PT. </a:t>
            </a:r>
            <a:r>
              <a:rPr lang="en-ID" dirty="0" err="1"/>
              <a:t>Lisani</a:t>
            </a:r>
            <a:r>
              <a:rPr lang="en-ID" dirty="0"/>
              <a:t> </a:t>
            </a:r>
            <a:r>
              <a:rPr lang="en-ID" dirty="0" err="1"/>
              <a:t>Alaf</a:t>
            </a:r>
            <a:r>
              <a:rPr lang="en-ID" dirty="0"/>
              <a:t> Jaya is a dynamic and multifaceted general trading company based in Indonesia. Established in 2014, we specialize in the sourcing, procurement, and distribution of a diverse range of high-quality products across multiple sectors. Our commitment to excellence, strategic partnerships, and deep market understanding allows us to bridge the gap between global suppliers and local/international markets, delivering value and reliability to our clients.</a:t>
            </a:r>
          </a:p>
          <a:p>
            <a:endParaRPr lang="en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107504" y="194320"/>
            <a:ext cx="8856984" cy="720080"/>
          </a:xfrm>
          <a:prstGeom prst="rect">
            <a:avLst/>
          </a:prstGeom>
          <a:solidFill>
            <a:srgbClr val="F7E09E"/>
          </a:solidFill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A1F03"/>
              </a:buClr>
              <a:buSzPts val="3600"/>
              <a:buFont typeface="Arial Rounded"/>
              <a:buNone/>
            </a:pPr>
            <a:r>
              <a:rPr lang="en-US" b="1" dirty="0">
                <a:solidFill>
                  <a:srgbClr val="2A1F03"/>
                </a:solidFill>
                <a:latin typeface="Arial Rounded"/>
                <a:ea typeface="Arial Rounded"/>
                <a:cs typeface="Arial Rounded"/>
                <a:sym typeface="Arial Rounded"/>
              </a:rPr>
              <a:t>COMPANY OVERVIEW</a:t>
            </a:r>
            <a:endParaRPr b="1" dirty="0">
              <a:solidFill>
                <a:srgbClr val="2A1F0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179512" y="1219201"/>
            <a:ext cx="8784976" cy="5410199"/>
          </a:xfrm>
          <a:prstGeom prst="rect">
            <a:avLst/>
          </a:prstGeom>
          <a:solidFill>
            <a:srgbClr val="F5E3D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Establishment	: October 2014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Company’s name	: PT. </a:t>
            </a:r>
            <a:r>
              <a:rPr lang="en-US" dirty="0" err="1">
                <a:solidFill>
                  <a:srgbClr val="00B050"/>
                </a:solidFill>
              </a:rPr>
              <a:t>Lisani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Alaf</a:t>
            </a:r>
            <a:r>
              <a:rPr lang="en-US" dirty="0">
                <a:solidFill>
                  <a:srgbClr val="00B050"/>
                </a:solidFill>
              </a:rPr>
              <a:t> Jaya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Address		: Jl. Tuba II No. 17D, 						  Tegal Sari Mandala III, 					  Medan Denai, Medan, 					  Indonesia. 20227.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Phone			: +62 823 84141531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Business Type	: Trading and Service Provider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Email			: lisani.alafjaya@gmail.com / 				  info@lisanialafjaya.com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en-US" dirty="0">
                <a:solidFill>
                  <a:srgbClr val="00B050"/>
                </a:solidFill>
              </a:rPr>
              <a:t>Website 		: www.lisanialafjaya.com </a:t>
            </a:r>
            <a:endParaRPr dirty="0"/>
          </a:p>
          <a:p>
            <a:pPr marL="342900" lvl="0" indent="-211328" algn="l" rtl="0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endParaRPr dirty="0">
              <a:solidFill>
                <a:srgbClr val="00B050"/>
              </a:solidFill>
            </a:endParaRPr>
          </a:p>
          <a:p>
            <a:pPr marL="342900" lvl="0" indent="-211328" algn="l" rtl="0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endParaRPr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0" y="1268760"/>
            <a:ext cx="9144000" cy="936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B4A3A"/>
              </a:buClr>
              <a:buSzPts val="3600"/>
              <a:buFont typeface="Gill Sans"/>
              <a:buNone/>
            </a:pPr>
            <a:r>
              <a:rPr lang="en-US" b="1">
                <a:solidFill>
                  <a:srgbClr val="7B4A3A"/>
                </a:solidFill>
                <a:latin typeface="Gill Sans"/>
                <a:ea typeface="Gill Sans"/>
                <a:cs typeface="Gill Sans"/>
                <a:sym typeface="Gill Sans"/>
              </a:rPr>
              <a:t>VISION &amp; MISSION</a:t>
            </a:r>
            <a:endParaRPr b="1">
              <a:solidFill>
                <a:srgbClr val="7B4A3A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467544" y="2457451"/>
            <a:ext cx="8229600" cy="3635846"/>
          </a:xfrm>
          <a:prstGeom prst="rect">
            <a:avLst/>
          </a:prstGeom>
          <a:solidFill>
            <a:srgbClr val="D29F0F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algn="just"/>
            <a:r>
              <a:rPr lang="en-ID" sz="9600" b="1" dirty="0"/>
              <a:t>Our Mission</a:t>
            </a:r>
          </a:p>
          <a:p>
            <a:pPr algn="just"/>
            <a:r>
              <a:rPr lang="en-ID" sz="9600" dirty="0"/>
              <a:t>To provide seamless and efficient trading solutions by connecting high-quality suppliers with diverse markets, ensuring exceptional service, competitive pricing, and sustainable growth for our partners and stakeholders.</a:t>
            </a:r>
          </a:p>
          <a:p>
            <a:pPr algn="just"/>
            <a:r>
              <a:rPr lang="en-ID" sz="9600" b="1" dirty="0"/>
              <a:t>Our Vision</a:t>
            </a:r>
          </a:p>
          <a:p>
            <a:pPr algn="just"/>
            <a:r>
              <a:rPr lang="en-ID" sz="9600" dirty="0"/>
              <a:t>To be a leading and globally recognized general trading company, known for our integrity, reliability, and unparalleled ability to meet the evolving needs of the international marketplace.</a:t>
            </a:r>
          </a:p>
          <a:p>
            <a:pPr marL="342900" lvl="0" indent="-200660" algn="just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CORE VALUES: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EE071-7D0D-9C1C-94F6-AB77611C7DC1}"/>
              </a:ext>
            </a:extLst>
          </p:cNvPr>
          <p:cNvSpPr txBox="1"/>
          <p:nvPr/>
        </p:nvSpPr>
        <p:spPr>
          <a:xfrm>
            <a:off x="304800" y="1219200"/>
            <a:ext cx="8686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D" b="1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D" sz="2800" b="1" dirty="0"/>
              <a:t>Integrity:</a:t>
            </a:r>
            <a:r>
              <a:rPr lang="en-ID" sz="2800" dirty="0"/>
              <a:t> Conducting business with the highest ethical standards, transparency, and honesty.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D" sz="2800" b="1" dirty="0"/>
              <a:t>Quality:</a:t>
            </a:r>
            <a:r>
              <a:rPr lang="en-ID" sz="2800" dirty="0"/>
              <a:t> Uncompromising commitment to sourcing and delivering only the best products.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D" sz="2800" b="1" dirty="0"/>
              <a:t>Reliability:</a:t>
            </a:r>
            <a:r>
              <a:rPr lang="en-ID" sz="2800" dirty="0"/>
              <a:t> Building trust through consistent performance and dependable service.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D" sz="2800" b="1" dirty="0"/>
              <a:t>Customer Focus:</a:t>
            </a:r>
            <a:r>
              <a:rPr lang="en-ID" sz="2800" dirty="0"/>
              <a:t> Prioritizing client needs and exceeding expectations in every transaction.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D" sz="2800" b="1" dirty="0"/>
              <a:t>Innovation:</a:t>
            </a:r>
            <a:r>
              <a:rPr lang="en-ID" sz="2800" dirty="0"/>
              <a:t> Continuously adapting to market trends and optimizing our supply chain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1B4F-4463-536D-E179-2C81817F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SERVICES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8E9BA-9710-56D5-4E59-17E3F1E0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D" dirty="0"/>
              <a:t>As a general trading company, we offer a comprehensive suite of services designed to facilitate smooth and efficient commerce:</a:t>
            </a:r>
          </a:p>
          <a:p>
            <a:pPr lvl="0" algn="just"/>
            <a:r>
              <a:rPr lang="en-ID" b="1" dirty="0"/>
              <a:t>Sourcing &amp; Procurement:</a:t>
            </a:r>
            <a:r>
              <a:rPr lang="en-ID" dirty="0"/>
              <a:t> Identifying and vetting reliable suppliers globally to secure the best products at competitive prices.</a:t>
            </a:r>
          </a:p>
          <a:p>
            <a:pPr lvl="0" algn="just"/>
            <a:r>
              <a:rPr lang="en-ID" b="1" dirty="0"/>
              <a:t>Import &amp; Export:</a:t>
            </a:r>
            <a:r>
              <a:rPr lang="en-ID" dirty="0"/>
              <a:t> Managing the complex logistics and documentation required for seamless international trade.</a:t>
            </a:r>
          </a:p>
          <a:p>
            <a:pPr lvl="0" algn="just"/>
            <a:r>
              <a:rPr lang="en-ID" b="1" dirty="0"/>
              <a:t>Distribution &amp; Wholesale:</a:t>
            </a:r>
            <a:r>
              <a:rPr lang="en-ID" dirty="0"/>
              <a:t> Efficiently moving products from origin to destination, ensuring timely delivery to retailers, wholesalers, and end-users.</a:t>
            </a:r>
          </a:p>
          <a:p>
            <a:pPr lvl="0" algn="just"/>
            <a:r>
              <a:rPr lang="en-ID" b="1" dirty="0"/>
              <a:t>Supply Chain Management:</a:t>
            </a:r>
            <a:r>
              <a:rPr lang="en-ID" dirty="0"/>
              <a:t> Optimizing the flow of goods to minimize costs and maximize efficiency for our partners.</a:t>
            </a:r>
          </a:p>
          <a:p>
            <a:pPr lvl="0" algn="just"/>
            <a:r>
              <a:rPr lang="en-ID" b="1" dirty="0"/>
              <a:t>Market Analysis &amp; Consulting:</a:t>
            </a:r>
            <a:r>
              <a:rPr lang="en-ID" dirty="0"/>
              <a:t> Providing insights into market trends and helping partners navigate new territories.</a:t>
            </a:r>
          </a:p>
          <a:p>
            <a:pPr marL="14859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964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7A3C-4629-68E0-025C-B7061857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STRUCTURE</a:t>
            </a:r>
            <a:endParaRPr lang="en-ID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51EA7F5-FD34-5E05-9C2A-C81AA6455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05691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92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304800" y="119734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en-US" dirty="0"/>
              <a:t>COMPANY’S CREDENTIAL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B6751-29EF-8593-A21E-7D1B2890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676400" y="-609600"/>
            <a:ext cx="57912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en-US" dirty="0"/>
              <a:t>OUR PORTFOLIO</a:t>
            </a:r>
            <a:endParaRPr dirty="0"/>
          </a:p>
        </p:txBody>
      </p:sp>
      <p:sp>
        <p:nvSpPr>
          <p:cNvPr id="260" name="Google Shape;260;p13"/>
          <p:cNvSpPr txBox="1"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Food &amp; Beverage Products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Vegetable Oil related Products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Fresh Fruits, Vegetables &amp; Nuts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Natural Spices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Textile and Cloth related Products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/>
              <a:t>Charcoal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en-US" dirty="0" err="1"/>
              <a:t>Furnitures</a:t>
            </a:r>
            <a:r>
              <a:rPr lang="en-US" dirty="0"/>
              <a:t> </a:t>
            </a: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342900" lvl="0" indent="-200660" algn="l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342900" lvl="0" indent="-200660" algn="l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342900" lvl="0" indent="-200660" algn="l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342900" lvl="0" indent="-200660" algn="l" rtl="0">
              <a:spcBef>
                <a:spcPts val="64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en-US" dirty="0"/>
              <a:t>GOODS &amp; PRODUCTS</a:t>
            </a:r>
            <a:endParaRPr dirty="0"/>
          </a:p>
        </p:txBody>
      </p:sp>
      <p:sp>
        <p:nvSpPr>
          <p:cNvPr id="266" name="Google Shape;266;p14"/>
          <p:cNvSpPr/>
          <p:nvPr/>
        </p:nvSpPr>
        <p:spPr>
          <a:xfrm>
            <a:off x="304802" y="1219200"/>
            <a:ext cx="411479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Dates</a:t>
            </a:r>
            <a:endParaRPr/>
          </a:p>
        </p:txBody>
      </p:sp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t="-60" b="23468"/>
          <a:stretch/>
        </p:blipFill>
        <p:spPr>
          <a:xfrm>
            <a:off x="381002" y="4724400"/>
            <a:ext cx="4038599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/>
          <p:nvPr/>
        </p:nvSpPr>
        <p:spPr>
          <a:xfrm>
            <a:off x="304802" y="4038600"/>
            <a:ext cx="411479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sym typeface="Libre Franklin"/>
              </a:rPr>
              <a:t>Clothes</a:t>
            </a:r>
            <a:endParaRPr dirty="0"/>
          </a:p>
        </p:txBody>
      </p:sp>
      <p:sp>
        <p:nvSpPr>
          <p:cNvPr id="269" name="Google Shape;269;p14" descr="data:image/jpeg;base64,/9j/4AAQSkZJRgABAQAAAQABAAD/2wCEAAkGBxQTEhQUEhQWFRUXFRgXFxQXFBQXFxgYGBQYHRgUFxccHyggGBwlHBcUITEhJSorLi4uFx8zODMsNygvLisBCgoKDg0OGxAQGywkICQyNCwsLCwsLCwsLCwsLCwsLCwsLCwsLCwsLCwsLCwsLCwsLCwsLCwsLCwsLCwsLCwsLP/AABEIANcA6gMBEQACEQEDEQH/xAAcAAABBQEBAQAAAAAAAAAAAAAAAwQFBgcCAQj/xABHEAACAQIEAgcEBggDBgcAAAABAhEAAwQSITEFQQYTIlFhcYEHMpGxIzNCUqHBFGJygpKy0eEVY/AkQ3OTosIWNFNUs9Lx/8QAGwEBAAIDAQEAAAAAAAAAAAAAAAIEAQMFBgf/xAA7EQACAQIEAggEBQMCBwAAAAAAAQIDEQQSITFBUQUTImFxgaGxMpHB8BQjM9HhQlLxFSQGFjRigpLC/9oADAMBAAIRAxEAPwDcaAKAKAKAKAKAKAKAKAKAKAKAKAiek/GBhbBfTOeygImWPhI0Ak+lbKUM8kuBqrVMkG1vwKpb6dX+du0fIOPzNdH8BDmzjrpWpyXqd2faKSxU2NRv2yo9CVM6EVoWEg5OClqu7+TY+lJRteK113/gkLXTy1BL22U6AAENJJiNYrEsDJNWZth0pBp3jt99wsvTvDTDC4p8Qv5NUXgqi4r5k49J0nwfy/kd2+l2FP8AvCPNH/pUXhKvL1RNdI4d/wBXoyYwuJW4gdCGU7EVXlFxdmXITjOOaOwrWCQUAUAUAUAUAUAUAUAUAUAUAUAUAUAUAUAUAUAUAUAUAUBkPTI3RjL1u67MqtntZjMW7igwo5AMHX9yruHtlKGKvmGVrVR8D6f6HxrqU3eJwsRHLPTidZPAeek+VSyq97amm7tYi7uJuPeax1RAy5lvT2ZBBXSI3jnOh0rRnm5uOXTmXVSpxpRq5t9Gvch+liENavpIDrkbl+uqn4N8BVTHQulNeDL/AEZOzlSfDVewyGFZZdDvroo2JmQNfwrnLOjpvLJ6pM2f2T8Y67D5GPaHa9fdcfxAH9+rVftxjU56PxRSwn5dSdDlqvBl7qqdAKAKAKAKAKAKAKAKAKAKAKAKAKAKAKAKAKAKAKATtYhGLBWViphgCDlPcY2PhQClAeA0BnntOw69Zh7ykSway0ESYl0PkCLo83FWMNK0rcytiVeF+RV8Idx6/wBfy+FdWi9bHDxcbxuJcS7S5UYq8qQwmN5hyNVUwRPKZqhX6UoN5IS81svH+Dq9H/8AD+Jq03WaVtrPd6cFtp325DbEpd+huLethRpcBbsMCRqrRqQJHKZnlV15nlcZrTfkcqMIQUo1abu1eLs0/wDHoHFcH1tm9bGp+st+vaEfvBx5NU6tNTpuK8iFCs6daM34P79SH4XcnDKyORAM7NEEkwNCeySRruV7q5NPE1IRyo79TCUqknJrUsfQDHfo2L1zBHJbtIyASYddd4lTpzU+Z2UX1sZw4vVeJXxS6mdOqtl2X4G31TOiFAFAFAFAFAFAFAFAFAFAFAFAFAFAFAIY3Ei1ba4wJCgkgROndNZSu7GG7K5Tcb0+KyRbULoFLFiZPeqzPkK2OCjuzUqkpO0UQN7p/eusFS4FzAkZLcacvf7WomI7jUqcYSIVXUja7POH4+7cvLnuuxOYDMzEAlTBAPjW6UFkdtNDXSl+ZFy11LQgy5ve3MAm8GJGmWAonUHXbWqdpczqOpTf9NvIjekeLvDC3mtG6jp1Yi3nuXO1fsyVBB/3ZubA6NMUV7h9W8t1u9bcERj4wFJ63FE/eaySdtJBHP8AD5xUql+PoXOowzje0f8A3d/l/BQ+K4X3rxVy633yu9vqmZFFvL2IUR2iNu/feujh6eaDm12l9+x57G1FGtGlF9iSf09mTGFvqIYtpEnTSCNdfKrsW7pnNnCLg1fUfDHYPO10v22TKR1nYzBcofLEzAGkxptXn4dAVKdeLp1F1alms1ra98t9mr8Wr2Op/wAwVVh5UsrUmrXWnC1+afgRrYbCmy1g3vo22GdewBEBTGwgbzXfhhKMYyjFfFqzlVelMVVnTlPXIrLTg9xfDXbNoWVS6pCDq9WE5SPePkwX4mt8UopJcClUlKo5Skt9Rl/gtoFuqxRthmLZQ4jUzyYeHoBVWeBpyk3cvQ6WqRik43sKcP4GLdxH/SQwUns98ggj3zG/dSngo05qSb0IV+kutpuDhubZ0bxvW4e225jKT3ldJ9dD61zcRDJUaR2cFUdShGT3JOtBaCgCgE2vqN2A8yKzZsw5JcT1bqnYg+opZhST4nQNYMntAFAFAFAFAFAFAFAFAMeOLOGvj/Kf+Q1KPxIjP4WY7xGyXC5dYYGJUba8yBuB/et1WLa0NFGSTdxoMK3WIxAETmgyNA0LqB9p2Ok8/VQg022ZxE1JWTJnhZ+mt/tj51Zto/B+xVT7S8UaTjMGjHUZuYkkx8TVA6J7cw6hBpzI9Mp01Ph30BGXbeo0BBOvd8/L4VlEWVvjVi3exFtLiobbi6gMsCCGAz9gxObSDOgBq1TnKFOUou1reZVqwhOrGEo3unrrpYoGEuh0W01xEy6EswXMJOU68gAB5xV6nOKeV6fsc3EU5tZ46/vs/wBxT/DrX/ubH/NWrGan/cvmUb1f7H8mcYrh6KCRdRgp7eRg5QTBJUa6an0NaateFNXvcs4ejUqys01bmmJ8M4ebiSSqN9pXOUg9xFZo1Y1I3I4qnOhPLa64Dr/Av8y1/GtbrR5lbrZcn6jO/hQlwL2GgZpEMN9vHatUpK+VFqnF5VN7E+emeMgKL7AAQAq21AA2ACqIFaVhafI3PF1f7hJuk+LYa4m9Hg5X8RWxYamv6UaZ4uq1bMxF+K323v3T53bh/OtipQXBfJGl1Zv+p/NiF+47qRnMnmST+dSyK2hiNTtLNqN+jfBymItObhb3jz10cQZJ8/SqtPDuMruTdn+xbxGLjKnljBK6v6v9i9lavHHsczG2lRaRlSa2A4pxs7DyZhUerg90vkbFWqLaT+bNRw/uLP3R8q87LdnsofChSsEgoAoAoAoAoAoBDHJNu4O9GHxU1lbmHsYyGq/Y5tzrMKzYXHfC2i9bP66/Os8GZi7SRod7HgAHK2gHID51RysvuSRT/aLxxkw9k2ne2etOYq2WRkP3TO9GnHUwnGWl/Uzvg3TTFXcQFuXnyOYCZn0mYhpknaZ8dq6tFxk9UvCyONiKDhTeWUrrjmevkWvgVp2xVvM7GXJWSTBALMup5wT5zWcZBRoySRr6OqOdeLb1V/b79CBx/A7ZssdZKePMf3qeIX+3fgRwlVvGKPe/qQ/AugrYq4q2pRVhrl0gwo5Be9jy7t64d+J6VxLjxLgFjD4drNtfrHS2WOrN1lxVYk8zlLVNK+5rciK6SW1/SHgD7PL9UVcpJZSjWk8xA3bQJ2Hwq1CKKlSbXE7tqBtW9Ipyk3uOCtSNdztaya2KrWTB2KGUP+D/AFtvyP8A3VCPHx/YlV0S8P3LxwfBrdYqxIAE6R+daMZXlRinFG3o/DQxEnGV9OQ8fg1rkzfxr/8AWuf/AKnV5L1/c6v+jUOcvmv2I/jHDUtorKSczEQSDy8AKuYPFzrSakloUOkMBTw8E4t6u2v+DRFGlcg9Ej2gCgCgCgCgCgCgPGEiKAxM6eldC1zmbMOsbvH8CfOJrCgu/wCZl1H9o8TQ1vh8SNFT4X4HeK2NdI4WlzjBYK3fu4a3dGZHvZWEkTNt41BB3A51z+kV+UvH6M6/RDXXy8PqjOOFoVxCGNEurmbkAH1k+Va6dSMGpSZfq05ThKMVfc0jg3E7RuqFuqrB1I3B3GxjmJrOLxdKUOri7t8tvMp9H4CvCoqs1ZLnu7rgKXuzbOo7KxPKRpM1vqvNhb9xVorJj7f9z+pP8MvjrsOqkQbDnKI7k3HpXGdvY9M2NONYcm5YX714N/Cjt8wKkma7FZ4/b+nbyX+UVdpfCUK77RDXhVqJRmxEVuNDHIrJqYA61kw0KpWSJ2KBEjwj6235H/uqMOPiSxGy8EX7ox77/sH8qodKfBHxL/QnxyJXN4j+AVxT0ZGdINRYHfcOwj7orpdG6Z33HH6X1VNd5eKpnUCgCgCgCgCgCgCgCgMXx6RcuDudh8GNdCOxzJbiIqZEDUobohP4WNsdj1UNAZsvvERAjfUkAnwEmuhOqoptK9jjUsO5tXaV9r/wMuEdKLS4jD5s3YurcOUFjlHgOcE6VycTi1WhltY7+DwEqFTO3fSxUWvf7QQrMEa6xUHQNmzZX+Bj41Wvmhdl61pWRJcAuAZmGptiR2bjCeeYr7oidZGp8KUsiUnJ620I1utbioLS+r7iVx/H16gqB2mBEj3VOWee+sValjI9TktrbyRQXR81iVVurJ+bt/BYPZ/fL3cO7an/AGpZ5x1VlgJ7gc0DlJrnnXexNcX49hVxtoPetoLfWhs7ZYcDLl7USdTt3VNbGspPFeP4e5eYrdBBiJDLyGkECKt06kVGzZSrU5uWiELq71biyhNDYLW9FaS0FQamaTwHWsgWU0IHttqGWSnB/rU8j8mrFPj4szidl4Iu3AscltmLtllSAcrHWR3AxVPpClOpGORXLfRFenSlJzdrkg3G7A/3rf8AKun/ALa5iwNd/wBPqjsvpLDL+v0YxxuPS9dw4QkxcEypXd0jQ+VXsLh50YTc1uvozmY3FUq9WlGm72f1RoFc07oUAUAUAUAUAUAUAUBj3HFjEXx/m3P5zV+n8KOdU+JjGthqOmWRMhd4LTEx4Ak+lRc7bbk4wzb7FaxFsWwVvEAqSpBIgRoSfvEnWfGrqqU1BSm13ffM58qdV1HGmn3te1+XA5kJYW9aKH6caTrIXOpyblSANR5Vya1a94rZu526NC2WcviSsdcCwQfDu1/rEtW1Q5rVlblx8+IIEc4U25I1PONdauZJ2vqy3wO+HYm3YecPYxmXtqzMyJnBVh2rYG2sgHb0rbCnKbtHU11KsaavKy8xPEXBcssiroJAR8ikPHZQnQZzmABE0m6iWWT2MUo05PPFb639yU6OX2w9qw5KLAvQ2dZDuhREjkWK6HUd/cdKmuBZlSkt0yodKJa/cvrbNvMSBmIMD4tLEzufHnpJTUjU42ITDJqPPv5gHlzrNzFhob7qSAzCDtJFSUmtmRcU90e/p13/ANR/4m/rWesnzZDqocl8iycI4oT9G5k/ZY7nwPj866OFxN+xLfgcvG4S35kNuPcSyXNavnMaFlu1kg0KWzQwyW4N9av7J+RrFPj4sYnZeCLCTWwpoTY1gkOeDCcRZ/4qfgwrVXdqUvBlnCK9eC70anXnj2AUAUAUAUAUAUAUAUBiHSvH3P8AEMXatpblHB7dxlJDqpzgBT2ZJEzyq1TnK2iKlSnHNdv0Gi4XHFSxSykbD6V2Ose7AgeNYddp20JRw8Wr6ivEsDLub+LYaMy2bNoyADAUsBBJ17OYGtalK3ZNrjC95ELx2/g7d36VL7m4qN9hD2rakAasZ1AOg1moq77KJuyvJ+/37iBvWWUdThluEmCmIvOpQ5oVSVZVyxrJOmoI01lKk0m29iKrJyjFLe/oI9IuILbxL27CW3yi2v0EC2SE7RzSQSC2UkT7vhWlI2vmhS3jYJAho+7J189BzNdGgqVGWbNc5WI6+vHJlt5iL4mGJ6oNJzEN1ggqVhjkZdZC71VxNRSqNx2ZewVOVKkk90S3FmWz1fV2rbZGyoGa8wANtW26wA6s2pmtDpw5Fz8VV5+iK3xR77t1ubtHRgQArAAASBpoBFRai9DSrkemEzOCCBzM7bEaGmyJJXIPFW8rssgwdxtU0QYkxrIJJ95/1508DBPcMx2cQfeH4jvrr4XEdYrPdHExeG6p3js/Qk7Zq2UGObNZIMmOC/Wj9j8qjT4+LMYnZeCJ4mtpTE2NYJD/AKOCcVZH6/yBP5VoxP6Ui5gV/uIeJqFcA9aFAFAFAFAeMwAkmB3mgERigfcBbxAgfEwD6UB7Nw8lX1Lfhp86Ab3bjTlDy33UQaeZYkL60BlvtAwROJJEJfQq63veOqDskAAFY0IjWJrfCDcb3K06mWdrFR4ZxJnttcN66WuGCQxBaJPV2lnQgc/x0kZjGL7VjM5zXYT0+9WSXE1vF1y5LSFLTajO8lFLL90QZE67GtsU7WRqnkTu9fYh+O4HLcS4B1jGyoOaJOUskgxE9ny8qtUKWW8krv7ehTxNbNaDeVNX+mvcRly8uV4QgsIMxuIgETpz+NRruLhJpWvuSw8ZqcU5XS29b+4w+lYKuoCkwIcrPMDIpM89QBHMVyrHYuc37hZkVUALBe0NxmPM9w1rNhcTs8SZSQyLIJUqzbGCDy3B/EViwuTGL4gepV8tu5OhBugkEA/q66D4CpyiYTGfD8f1hZjaVQEOUaEaETGg76hYlmGBvl1tysHMST2h2dgp1jnPpWLWRi5BvufM/OpGDlqAkXOgrKMM7QlSGG41FZjJxeaJGUVOOWWzLJw/GC4sjcbjuP8ASu1QrKrG/HiefxGHdKVntwJG01byoya4L9Z+4PktYpcfF+5jFcPBexOE1sKiQmxrBIk+iYnGWfNj8Lb1Wxf6Mvvii50er4mHn7M0+uEesCgCgCgEr97LGksdAvf/AEHeaATXCyc1ztHkPsr+yPzOtAK3rwUSfIDck9wHM0AlkZ/elF+6D2j+0w28h8aAXt2wohQAO4UBlPtLlsb1Y2NlHc+BZlA8ScrfD0NmjrGxUraSuZ2EXD3LnVgzmMAkkKDBOXumB5wO6sJ5G7GzL1kFc6xvSK8VSAq5RlJ0OmYlWjlvHpWOua2MvDxe4ljuOE2bJDKzDrEaMs+/mXTkDnb4Gpfiqi2e5rlg6UrXW3jzuQ1/iJbRlmRpIHxH9ai8ROXxa+JOOHhH4dPAQw2KZWIGqtIIluyDrKkGVMqNjBEg6aVqubywcHWwUyw7Xbwt2UJGUIrPDuxUmY7Ongd6yoZmtNtfkHJRWo46f2UtYm71VtFLkMVy6gZAS0ac8xnvmt6qqELJau5WdJ1Kjcm7KxA2gEw6GSAG15yHt3AdOWgYeObwquti0OrroSxtgdXlvBQAQSQ8yZ37LIP3aWtcN3sMON4a5bZmdTAvXIbKVVhmMFeUEaiOVYZgibNvXNAIDe6RIPgRS9huNmUa8tdt9PP4UBIBJAEjTeNeXhS4sKwO+TyAFBYX4fdC3QAN9D/qasYVtVVYq42KdF34Fltmu0edZN8CP0h/4Y+S1inx8X7kcXuvBexOE1tKgkxrBkmuhQnGJ4K5/wCgj86qY1/ks6HRi/3C8/Y0yuIeoCgCgCgGuEGYm4eei+CA6R57/DuoBXEXso2kkwq957v70BzZsQczav38gPur3D50AvQBQGN9MuIqcXfkOCtwqWgZYCqFA1kCIOoGpNXcPHslDFTtJGaYvHy7MebE+k6fhFaG7u5birJIirt0sTqdSRAO8Hn8a0s2C1lOyV7jnj0hj/LTczYTvXJ2aQoABI1bbTyGsAnQDvoB9cvYdMMpWTimbK0kEIknK6r9pj2R5a76hYX4Ez0Xs3LN23cuLdVFEsBadg0MYBGxiQ2vdI1AqSlYwo30Y56eOMRi2vWsroyIArN1bBgD9liDpPMRrWL8AkMsPwW71CDqy5F1Syi4oHuOIzqexo76zpA79WxIR4pgGtNLhQzrdJyuHEyDyHjzmfSid7hpcB/xzo7mVDevi2MsKWQmAtsZVMRHuxtz+OqVTLrY2KOfTkU3imDt2snV3etzIHaBGRjvbPeR31OMr30Nco2tqNcHhi7QsTE6mKmiA8w6G2xDCDpymjMoVNwKM2VjJIDaD4VEyHB1m6D3An8vzq5hI3qJ8ijjpWpNcy0Wq7BwGTfAfeP7C/JajS2fi/cjit14L2RMk1tKpwxrAJ/oEJxflbc/io/OqWO/S8zp9Ff9R5P6Gk1xj0oUAUAhjnItuRvlMecafjQCttAoAGwAA8gKAb4UZibh56J4L3/vb+UVhAdVkBQCN3F21951XzYCgMV9pWKtJicQ1pg3WqrEhiRmyLb09F5dw03qzCVqZXnHNMp/EeEhBLNbtlbanJcbLcfsntIsSwJUjzrErWuiUL63VtSBuYHKtuGDZ1zsBPZJ+y3jEVpkrG5HVjANccKoLtyUCT5/3qJncb3sqjKpzayW5eSju8Tv4cwEHVdCSc0iBl0gc807zyismC0Yj2jYo21tRYyjT3Lk/wA/nWbi2o//APGNzD9XCW7qsAQwLW+QOqGSBB3rNrMwSVr2pXCs/o6hgD9piNMsa6byfh41jSwGlz2m3h2jYt5mEL2nC6N477d9YaMpiHRDjF3EYu6bzyGUwuuUS4ORV7onfkvrVbFR/Lfcb8O+0UriGDa0zIygEwYU5gum2hO4IPwjuqyaXuMrQ57ePjRGB6jnmSdtTMgVICvEbk5APdA0FRMsV4PpcP7J+Yq5gn+Z5FDpBfl+ZZLTV1zhNE5wA6t+yvyFRp7fP3IYr4l4L2RLlq2FVCbtQyWT2dCcU57rLfz2/wC9Uce/yl4/RnU6JX57fc/dGkVxz0YUAUBFdKMetjDPccMQMs5RJ94cqlGOZ2IzllVxW5jVu2Q1pgwuEIGHiYPkQJPpUWmtCSdx1cvpbAzMqDYSwHprWUmYukV/pxjbtu2ptOV3mIBMFee43NRvYyQb8RzjtMZ5hiSf7jxoZsNMRikVSZ0FSinJ2RGclFXexQ+k91L122QTAgQAdTO20Dc6n8at/h6sWlJblSOKozTlB7eXuR3SvEXGt6hNSqgxmuHkAXJnv2ga7VKrhci33ZGhi+snazWncOcGFtavh0vqtuAbhYrbymSci/WEiez4VsxdBRSa4eRrweKc21Li9OPsNeIdNMUDkslMPbmMli2ia66lolT5GNOcTXPujpyi1uU62JOVQSeSgSfgPSsJX0MN2V2Lvg2Gj22B7i62yPMMJrLi07MxGSkrrVC9vA2wZgHYyzlh4jsCCOVY0M2F+KJbLE4YXOqgDtW87aHVQSdAIAEa6VlsWYrhsGdR1ZcEDtGQBrJgeI0qGYlYTx9ohLakBcgImdWlp1nuObaNzU89yNrD7objOquPcyliEAAUe9LCRtvMHynyOurT6yLiiUJqDuxR+DXXtgZW+0QCAoBLAjtZpPvNy5t36244apJaIqTxlGOrl9fYZcc6Orh7CPN3rWcAqVXqgMjNCsNS2g+B8KjUw86eskZo4qlW0gyEwt18wA102PMd34VrTN45mNW1gaAd52k+hqLJI94Q/wBL6GreC/UKOO/S8yx2zXXOGyd4B9r9lPlSnt8/c1Yv4l4L2RKlqmVTh2oSLZ7NB9NePdbA+Lf2rndIfAvE6/RC/Ml4GiVyjvhQBQGb+3dmXAW7i3blvLfUNkJAYG28BgCARmCbzWU7O6BVegfSM4i7Yw97rAbhM21Z7cmD9KsxpAaYM6ECasZlJZtLo0ODTtrZ+hrtno5hV2soT3vLn4tJrS6s+ZNUoLh9SmcSxgODw9szmVLi6/qXMm/mlKq1uZpvs2IK5iDoTMj3Y0I0GvzrVsbBtjOPo1i4t0ZWyHtfZPcT3ajyrZRklNPvI16eam7DK1gBcRWstmYqMyyN4Gx8fH410ljZUp5ZrTgzlT6PhVhmg9eKIq9mI1w6XRtqXLIwI7aEAZWGogg71qxOJlJrS1tTbg8JCClre+j4D/hmHNwLnUgjU+8FHepjX1EE1bhnrU9eJTqyp4erdbLhyFbvQt77N1SjtHNpbLAa79uRPjWqVClCOWUkn98DZDHV5yWSDa++L0JBeBtgFRbzx2CZJRVPa3IBifXarOF6rL2Htx2KOP6+Uu2t9Ut7cCodIktXL2ZVVgVEmNCZMmefLWszp05u9ieHnVhBRbaEHt2ltNlQ5gNFylwfzrn18GknKPyOnh8a21CdvHb+BXhnR264DFmQRlIUOh1MgyNGWDHPurXSwdSprsu8niOkaNHS933fbLHY4COrZHzNOXtM7BhlnYqec6zVyPRsf6mc+fTL/pX399wra6O2gACoaNplo/iJ+VWY4OjHgUanSeInx+ntYkLWDRdh+X4CBW9U4rZFSVapLVsUVANgB5CpmptvchuKcOZgc10srXUIRwuVZYCAQsncDWqlWDvq7ptaaHSw9VZdIpNJ6q92RXEeiFnKzglHUFhk92QCdQdOXKK01cHBptaFjD9JVc6i9U+ZRnuEqREQJMDn3n5Vxz0Qpwj6weRq3g/1Cnjv0ix2665w2if4Hs3kn8tYpbeb92asX8a8F7IkmNbCqJsaGS6ey8dvEH9W2Pxf+lc3pF6R8/odroddqfl9TQK5Z3AoAoCM4/xAWLWaAxLAKG2mCZ+ANYYMM9ouPe9jjcJgjBhVKswCgNdzRrzkTWYu9zbRSkpGx+znE9ZwvBMTJ/R7akzOqLlOv7tZluajPunF6LYa2fq8RjEBHhcR48feNWowvJKXFIpupaLlHg2Q3DuIdYgnR4mO/wAR/Sq1WCjJpFqnLNFS5lV47jTN0FjAVFgeJM6fvCluxfvF+1YR6P8AHikAnJkAVWHukDYONx5j1BrMZ203XL9uQlDNqtHzLdwrFh2JBEnUwQd9eWkeVdjBSjJWRwOkKco7l3s8bwli2k2wXyjMSATmjWC2vwFa6tCtOTTlZcNfojZQxGGpwTjC8ra6cfFkdjumxRHezaAAUmSNTA72/MVCHR1GlFyt9P5JS6Sqzkoqy9f2RQuL9JruMFt7oGklRuRPjAHwFb6Si4pxViFVSU2pyba05egxDzvyrcaHoOFVoGSAZ3IkDWsO9uyIuKl2ti44Rb2di7obZHZVVIYa6SZg6eFbo58zu1Yo1HScEoJ34u+g9BrYV0gmgsczWDNjylxlGPE72UKSrMOsScokgAhtufuiquJk0lbmdHA04yzKTsrb+Lse8TkWrkiCFuAjxCMDUusz083NEY0eqxGTk17mV3iMpCjlXAPVnPCPrPQ1awf6hTx36ZYkrrHEZYOC+6f3f5BWKW3m/dmrF/H5L2Q+JrYVkjhjWCVi+ey1dMQfG2PgH/rXM6QesfM7fRK0m/D6l7rnHYCgCgKz09I6i2OZuiP4Wk/l61GRhlDxOFtFlZlUuoIBgFgDuAYkb8qi0YcrFr6OcbWzw+8ZE2M2VfBtbY8i5K1toRzyUTXOqoQlLkZ7cecDckyRiNT/AMWw0/Hqq6WIVqsbfepzcH2qMk+fuiqX7hhFSZJUAg7HKPzqnNXqyXezpU3anHw+gt0h4WvVF1aSSNfvEAcuR02qSpyccqRHrIqWa5XcLgArnrpCkEyu4IEhT4HaeVa62HqwjdamynXhN2PbWugKpJiDpljQSwGbSRPfUUnwJ3J7g3GEtqbOJi2yMde0QRPfqe/nqIq/hqkYNOTObjKUqqagrj7jfH0UdXbVbmdD2xcUhQdNhufWrP4tVE1FPzKUejnTkpTl8iE4TbPVqDy09AaYdNU0mTxck6jaHrpEVvKqdxS22/8ArnRBl4stovio+VbzntCs0MHk0CQVG5Kx4TWDNhjj3YNaykgG6Q3cV6l9D3iY+AqvX4a21+hdwbtm0vpt5o94u/0V0/qXD/0NWXFQp2XL6CM5VK+aW917oydmOsg6iuCepOuEe/6H8qt4P9QpY39MsNs11jjNFj4J9Wf3f/jWo09vN+5rxCvPyXsP2qRpsJMKXM5TQvZev0V4/wCYB8EH9a5mPfaXgdrotWhLx+hdaoHUCgPGaAT3UBn+PuXcWwZjAE5VGyg/M6DX5Voc2zKiQy4G7bZyXDBZEZADrrObeoxjN7mG4q9kVvjmO1yjnqSOY7vHUD4V0MHBxlmOZjaiaylk4t0YutZFnDsc36FZutbWIvMt24XE8yOsXL8PLd10XLM+f+DZ1Eowyx5fPn7mX4exmuopOUFxOsR2td+cTUq1PecRh6m0JD/jUC7cCqQiNA5jYag/aERrU6FVW13I1aTvoIWMF1k5ROhPoBJ/AGtzkuJpSexD8XtlCY0IAjuYaAz8B+FUasct0vtF+jPMrv7aFrYS9bBiWRQGJ3K7KfSMs+VSpJTTiyNa8GprzG6poPCR8IqeG0biRxGqUiXwrSB5V0UceotRyVkT3VlmtCuGTvrPAw3qW7DHsp+yPkK3IpyWrFjS5iwTWDNgmsErHk1gDTG4YXMu4yuGBBgggCINaqtNVFZlmhWlReaI3x9oJhriroFsuAPAWyBUZrLCy+9DZRk51sz3bT9UZX1m48BXBPTi3DNH9D+VW8H+oU8ar0/Mn7JrrI40k0Wfgw+j+H8i1GG3z9yFb4/JeyHTtUjVohMtQX5Fw9nnHFtMbFyALjSr/rwBkPnAjx86o4yk5LOuB0+j66g3Tlx9zSa5h2QoDwigKBwu4ETtaBRqfKq2xNbETxDjKBbjFCRDE95AkwPGtimrWNUo8Sr8IxeFxQcm0yupA0uswgiZkAc5G3KtjqzgrRengjUsPSk8zWviXrojxQvi7CHZMPetjvILW2UH9kIR60pzbg4s2SXbTLP0jtWcPhMZeFpFIsXncqiqznq2JkxqT499Scm9GSUUtj5stNds2MOzMWW4r3FUjTS9ctsJ3k9XP7wq5QjFxbvqVa8mpJcB9w3E5pK6c47vCrNNplSqnEQ4xYLy25/1pUa9O8bolh6tnZkTg8Utlg0MTqCukFT7w8ORjvjXupJpNP7TL7Taa+2OrqBfdOZWIZTzytO/iNvStuHbc3c1V1aFh7hNvLSa6S0ORU1HfhUkaWLW9APKsp3IyTTLVg27Cfs/0rcirLdi80MWCawZPJrBmwTWDNhC9fK7Lmk6iY0gag1or58vY3LWG6rN+ZsNOkF5bdm6HdZay2XWM2ZNCFJnntrFVKOKVfDqbVnqpLlJXTXz9NS3HCuniLR1jo0+abTXoZabB3iZAiucdwd8IH0hB+6fyq3gv1PIpY92p+Y/a2wYBJkmBHPuEc66bRzoyi46l2wdnLbVTvlWe6comsQ2++ZWq6zuu72QoTUrmtRRwTWCSQm7jvrBI1foFxi5iLBF1WlIAuEGLikaGeZEQfQ865OJpqEtP8HcwdWVSHa4ceZZ6rlsKAzfErHXKeTt+Dn+lVpkhTCYRCNh6waxFJ7kmSeJ4WnV9kAabAAD4VvlFWNVys8Ci3xCwTp2yv8AGjKB8WFYi7MhxF/bpx8JhreBR1F3FOubMwVUtBxLu32VLACTpAfurYbCt8d4hhMVhLPD+G4XEY25hlVExNtMltG+0WcjUMQSQQAdIPMThNxd0RnBSWpVsH0M4qt8oMI4cRIMZIIB+sBKHzmrMJv4rpFecF8Fmyy4joDxIBf9mDE7xes9nwaSPwmtqxcDS8G73TGnSX2R4u3hv0hWR7oM3LFsMQqR7ytE3GHMBRvpMa06tRTldKxcpwyK17lBwTwrZmGiyIMwM2gPLvOk71mnLLK4qRzRsTeCWVleesc/PxrsxSaOBUk1LUd2RRkVzFkOlYQZY8Cfo08qsLYpyWrHE0IhNYJWCaGTwmsArHTfF3EtJ1bFZuQSDGmQ6T6VTxlSUIJxdjpdHU4Tm86vZfUgeOo3U4N3Df8AloZyGjW/eKKXI3yldCZ1rzeDkpTrNf3f/Mb+p6SorRiu76ivCOHC7bDnVFAkenP9XlPfXVw0acqqhPxS587Pu4rc5eNrzhTbp+Df9vLTv4PYeYvCtbAIXKp27MD0766kKlNtxg1pvbgcrJOylUT14viPuA4LXrW/d/NvyqdyE3wRNoCYABJIEACSdOQG9Qi7K7Mzi3Ky7vYn+HdDcVdglRaXvuGD6INfjFaJ4qnHbUs08DVlvoWrhnQHDpBulrx7j2U/hGvxJqpPFzltoXqeApx+LUsA4TYhR1NqEMp9GnZPMrpoarZ5cy31cLJWWg9qJMKAY8buXVsXGw4U3VUlQwJBI1IgEakSB4xUo2vqRle2hmeE4kbqNceJcFiQNCTJOnLWqM6iUnF73NsU3FMl8Adv7VKO5ksI7Vv/APfz3qy9UaeJSukKG2wu80ZXEd6sCPltWq+piQ8s+y1MTjLuN4hfOJFx81u0oKIEn6NXMywCwMogaazNbiZomCwdu0gt2kW2i6BEUKo8gNBQC9AFAMeN8TtYay92+2W2o7RgsddIAGp3rDaW5lK58g8O5r3qR+BEfjUjBbcJwy51QxChuqWFZhspdRlzjkO47TXX0zR17ziNvLPS6vZ9wth2DhjsVMbb671vhPPfTYqzp9Xl139BSzEVjUloT/D2+jT1/Ot0dinP4mOprJE8LUMhNYMXZxccASxAHeTArDdicYuWw+6LcQw/WszqtwC2erzKDb6wugU5m0Ghbtd084B5PS1WKpJZczb0XN67fV8Fqdfoqk41JSbtZa922/3qaxw7DBLSpodNSIgk6k+UmuZh6XVU1F77vxer9TtTlmlcy/jyLYxd57dtNXMjLz5kHlJHKvN9IYqrXqyoyk8sXok7W4F7D0KcFnUVd7se8Kx1rEs1pwA2WShysCPXzGhHOuHUp1MMutg34q6ZZlJSWVq45xHBLKwUtr3RuPRdhVyH/EPSFSGR1Hpx0v8AO1ypHo3DKTlkX0+Ww94TihhiqqLa52Ay5VDGSANQJ+O1dHAdJY+tJJXmuN9l/wCX+RUw9CC0Sj4fsXevUlAKAKAKAKAKAxvpbw65hcYyWjFu8c6D7IzHtL4QZ25EVKrSpTp9ZNar5mhVKkKmSL0f2yb4dc0FUolssuBaVP8AerS1ianuV7pag6snw8/7DyrRJ2MS2PPZh0jIjA4gw6gtZJ5pJPVeajUeGn2dd1F9ZS6xbXsQi3FqEt7X/g0apG0KAKAxv2jYW6uJuMbty5YJHYd2K22ZZyhJgLroY/rXRwk4S7Dir+5y8fTnFZ1J2MxvcFylruaTJYKFgbzB76lUwLV5377EKPSN3GCWm17mt+xG/ba1esuVJZUPVtBzL2w3ZO4grPnWnEp5IS7ixhZRdSpHvOuN9EcPZx9i0s9TiSZtyexDAEK28SwIHLy0rdRrydKT4or18NBV4LgyA6U9D7uBafrLBPZuxt3K4+y3jsfwG6hiI1VbZ/exoxOFlSeZar73E+HmUHrVqOiOfOzlcdopJAUFidgAST5Ab1lysrsRi5O0VcnuH9EcTc1Ki0ve5g+ijX4xVSeNpx21L1Lo2rL4tCT4j7PC1qLWJK3d8xRchH3Y1K+cnyqr+Pk3tp6l6PRsIre779vkQb+y3ECW/SVuH7rK34MSfhFa6lalVfbT04ptP0sbPw9WEbQkvBpW+o/4b0EML1pLQQery5U8iRH4a91aFKNOWamtf7m3KXzd9O42fhnNWqyuuSSjH5Lc0TC4dbaKiKFVRCqNgO6oNtu7LMYqKsjL/aIeovXDE5xmUQYMjX8Z/CvM4nATnjG0uy9b+/qdGnWSpd5SehbMeKJdYgZ0dIiNQkgD0Un0rf0th1T6OlCOyafqa6M81ZNmpX20NePwyvOx05PQiejvBr127buBTkDqxdtAQrA6c2O+1fTIxUVaKsjgXbd2afUgFAFAFAFAFAVf2g8KN7DdYgm5YPWL3lftr8NfNRUksycOehrnpafLX9ygYDGiBkulR90gEDwE6iuPUnXoO04FiEYVFenPQlrfGSg1uDz/ANGsR6QrPSFNt+b9iTw8VrOfscgXr/1Nq7e7mK5bevczQvwrKweLxD/OahH1+S1+ZB1qVP8ATTk/T5vT5HfD/ZziGuC7duraYMHBSXdSNo2A+Jrv0p0qFPq4K6OfKhVq1Osm7Pu+/wBzTxVYuntAcvMGN4086Awrpbx7FX7ht4lbdsoYKrbAIg7ZzLRzgGDvXXw1KmlngcPF16rvTnoisXg3PWPxq22ylHKd4DFXFYOua0yEFHkBgY309RWqDdSNpo3VMtKd6Url4s9KmxmJ4f1q5btq6Fdh7rh7tmGA5HstI27t4GhYfq4Tts1+5ZliutlT5p/VGv37KupR1DKwhlYAgg7gg7iuUm07o7LSasysYboDhUYn6QpMi3mhVnlmHaI9fjVv8bVy29Sl/p1HNmt5cCxYLh9q0ItW1Qc8qgE+Z3PrVWU5Sd5O5chCMFaKsOaiSCgCgCgCgGXFOFWcQuW9bVxyncTvlI1HpQFFxnszFu/bv4R9UcMbdzmPtAP4gkaj1rRiqPX0JUuat+xKnLJNSLTw/gJkNfKt3W1nL+8T73lAHnXNwPQtHDPO3ml37eSLFXFynotET1dkqhQBQBQBQBQBQHhFAUuz7OLGdme45UsSttYUBSdFJ1JgaTpVl4mVtimsHC92/IsHDujmFsR1dlAR9ojM38TSa1SqzluzfCjThsiVrWbQoAoAoAoCqdOeiS4xM9uFvqOydg4+4x+R/Kt9Cs6Ur8CticOq0bceBjd3DMpKsCGUkFSIII3BHI12oyUldHnZxcJZZLUTNipELilgMCCpIIIIIMEEbEHkaW4C9tUat0L6bdaFs4ohbuy3NAr9wbkrfgfA6VysThHDtQ29juYTHqp2J7+/8l5qidIKAKAKAKAKAKAKAKAKAKAKAKAKAKAKAKAKAKAKAKAKAKAKAKAKAp/TnokMSpvWQBfUajYXQPsn9Ycj6HkRaw2IdN2exTxeFVaOm5lJUgkEEEGCCIII3BHI+FdmLTV0ednBxlZnSr3VIglcecP4RdvGLaM/flEgeZ2Hqa1zqxh8TN1OhUqO0Ua90Tw2It2AmKYMwPZ1zMEgQGbmZnv0jWuJXlTlO8Nj0eFjVjTtUev07yarSWAoAoAoAoAoAoAoAoAoAoAoAoAoAoAoAoAoAoAoAoAoAoAoAoAoCp9KOhSYq4LtthacmLhyyGEaNAI7Q015j0q1QxLpabop4rBxrWezFeF9BsLaguDdb9f3fRBp8ZpUxlSW2hilgKUN1fx/Yslq2FACgKBsAAAPICqzbe5cSS0R3WDIUAUAUAUAUAUAUAUAUAUAUAUAUAUAUB//2Q==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876800" y="1219200"/>
            <a:ext cx="3816928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Charcoal </a:t>
            </a:r>
            <a:endParaRPr dirty="0"/>
          </a:p>
        </p:txBody>
      </p:sp>
      <p:sp>
        <p:nvSpPr>
          <p:cNvPr id="272" name="Google Shape;272;p14"/>
          <p:cNvSpPr/>
          <p:nvPr/>
        </p:nvSpPr>
        <p:spPr>
          <a:xfrm>
            <a:off x="4876801" y="4038600"/>
            <a:ext cx="381692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Spices</a:t>
            </a:r>
            <a:endParaRPr/>
          </a:p>
        </p:txBody>
      </p:sp>
      <p:pic>
        <p:nvPicPr>
          <p:cNvPr id="273" name="Google Shape;273;p14" descr="D:\BUSINESSES\PT. Lisani Alaf Jaya\Kemtan\Pics of Dates\EMDPjPQUYAAJ6_C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828801"/>
            <a:ext cx="2971800" cy="197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 descr="D:\Indonesian-Spices--834x556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7800" y="4724400"/>
            <a:ext cx="32004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704284-4BE3-D437-B23E-567093A12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2" y="1824733"/>
            <a:ext cx="2971798" cy="19703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EFB64CBA-2827-1390-01F6-CDCA22DB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>
            <a:extLst>
              <a:ext uri="{FF2B5EF4-FFF2-40B4-BE49-F238E27FC236}">
                <a16:creationId xmlns:a16="http://schemas.microsoft.com/office/drawing/2014/main" id="{3AE3D4D1-18D1-AB36-A821-15624AD3C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en-US" dirty="0"/>
              <a:t>GOODS &amp; PRODUCTS</a:t>
            </a:r>
            <a:endParaRPr dirty="0"/>
          </a:p>
        </p:txBody>
      </p:sp>
      <p:sp>
        <p:nvSpPr>
          <p:cNvPr id="266" name="Google Shape;266;p14">
            <a:extLst>
              <a:ext uri="{FF2B5EF4-FFF2-40B4-BE49-F238E27FC236}">
                <a16:creationId xmlns:a16="http://schemas.microsoft.com/office/drawing/2014/main" id="{2D470C21-B080-B838-3C7E-C670ECE1F3A3}"/>
              </a:ext>
            </a:extLst>
          </p:cNvPr>
          <p:cNvSpPr/>
          <p:nvPr/>
        </p:nvSpPr>
        <p:spPr>
          <a:xfrm>
            <a:off x="304802" y="1219200"/>
            <a:ext cx="411479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sym typeface="Libre Franklin"/>
              </a:rPr>
              <a:t>Coffee Beans</a:t>
            </a:r>
            <a:endParaRPr dirty="0"/>
          </a:p>
        </p:txBody>
      </p:sp>
      <p:sp>
        <p:nvSpPr>
          <p:cNvPr id="268" name="Google Shape;268;p14">
            <a:extLst>
              <a:ext uri="{FF2B5EF4-FFF2-40B4-BE49-F238E27FC236}">
                <a16:creationId xmlns:a16="http://schemas.microsoft.com/office/drawing/2014/main" id="{112477CF-3AD8-3500-E2F0-CEDE8FDCF5EA}"/>
              </a:ext>
            </a:extLst>
          </p:cNvPr>
          <p:cNvSpPr/>
          <p:nvPr/>
        </p:nvSpPr>
        <p:spPr>
          <a:xfrm>
            <a:off x="304802" y="4038600"/>
            <a:ext cx="411479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sym typeface="Libre Franklin"/>
              </a:rPr>
              <a:t>Olive Oil</a:t>
            </a:r>
            <a:endParaRPr dirty="0"/>
          </a:p>
        </p:txBody>
      </p:sp>
      <p:sp>
        <p:nvSpPr>
          <p:cNvPr id="269" name="Google Shape;269;p14" descr="data:image/jpeg;base64,/9j/4AAQSkZJRgABAQAAAQABAAD/2wCEAAkGBxQTEhQUEhQWFRUXFRgXFxQXFBQXFxgYGBQYHRgUFxccHyggGBwlHBcUITEhJSorLi4uFx8zODMsNygvLisBCgoKDg0OGxAQGywkICQyNCwsLCwsLCwsLCwsLCwsLCwsLCwsLCwsLCwsLCwsLCwsLCwsLCwsLCwsLCwsLCwsLP/AABEIANcA6gMBEQACEQEDEQH/xAAcAAABBQEBAQAAAAAAAAAAAAAAAwQFBgcCAQj/xABHEAACAQIEAgcEBggDBgcAAAABAhEAAwQSITEFQQYTIlFhcYEHMpGxIzNCUqHBFGJygpKy0eEVY/AkQ3OTosIWNFNUs9Lx/8QAGwEBAAIDAQEAAAAAAAAAAAAAAAIEAQMFBgf/xAA7EQACAQIEAggEBQMCBwAAAAAAAQIDEQQSITFBUQUTImFxgaGxMpHB8BQjM9HhQlLxFSQGFjRigpLC/9oADAMBAAIRAxEAPwDcaAKAKAKAKAKAKAKAKAKAKAKAKAiek/GBhbBfTOeygImWPhI0Ak+lbKUM8kuBqrVMkG1vwKpb6dX+du0fIOPzNdH8BDmzjrpWpyXqd2faKSxU2NRv2yo9CVM6EVoWEg5OClqu7+TY+lJRteK113/gkLXTy1BL22U6AAENJJiNYrEsDJNWZth0pBp3jt99wsvTvDTDC4p8Qv5NUXgqi4r5k49J0nwfy/kd2+l2FP8AvCPNH/pUXhKvL1RNdI4d/wBXoyYwuJW4gdCGU7EVXlFxdmXITjOOaOwrWCQUAUAUAUAUAUAUAUAUAUAUAUAUAUAUAUAUAUAUAUAUAUBkPTI3RjL1u67MqtntZjMW7igwo5AMHX9yruHtlKGKvmGVrVR8D6f6HxrqU3eJwsRHLPTidZPAeek+VSyq97amm7tYi7uJuPeax1RAy5lvT2ZBBXSI3jnOh0rRnm5uOXTmXVSpxpRq5t9Gvch+liENavpIDrkbl+uqn4N8BVTHQulNeDL/AEZOzlSfDVewyGFZZdDvroo2JmQNfwrnLOjpvLJ6pM2f2T8Y67D5GPaHa9fdcfxAH9+rVftxjU56PxRSwn5dSdDlqvBl7qqdAKAKAKAKAKAKAKAKAKAKAKAKAKAKAKAKAKAKAKATtYhGLBWViphgCDlPcY2PhQClAeA0BnntOw69Zh7ykSway0ESYl0PkCLo83FWMNK0rcytiVeF+RV8Idx6/wBfy+FdWi9bHDxcbxuJcS7S5UYq8qQwmN5hyNVUwRPKZqhX6UoN5IS81svH+Dq9H/8AD+Jq03WaVtrPd6cFtp325DbEpd+huLethRpcBbsMCRqrRqQJHKZnlV15nlcZrTfkcqMIQUo1abu1eLs0/wDHoHFcH1tm9bGp+st+vaEfvBx5NU6tNTpuK8iFCs6daM34P79SH4XcnDKyORAM7NEEkwNCeySRruV7q5NPE1IRyo79TCUqknJrUsfQDHfo2L1zBHJbtIyASYddd4lTpzU+Z2UX1sZw4vVeJXxS6mdOqtl2X4G31TOiFAFAFAFAFAFAFAFAFAFAFAFAFAFAFAIY3Ei1ba4wJCgkgROndNZSu7GG7K5Tcb0+KyRbULoFLFiZPeqzPkK2OCjuzUqkpO0UQN7p/eusFS4FzAkZLcacvf7WomI7jUqcYSIVXUja7POH4+7cvLnuuxOYDMzEAlTBAPjW6UFkdtNDXSl+ZFy11LQgy5ve3MAm8GJGmWAonUHXbWqdpczqOpTf9NvIjekeLvDC3mtG6jp1Yi3nuXO1fsyVBB/3ZubA6NMUV7h9W8t1u9bcERj4wFJ63FE/eaySdtJBHP8AD5xUql+PoXOowzje0f8A3d/l/BQ+K4X3rxVy633yu9vqmZFFvL2IUR2iNu/feujh6eaDm12l9+x57G1FGtGlF9iSf09mTGFvqIYtpEnTSCNdfKrsW7pnNnCLg1fUfDHYPO10v22TKR1nYzBcofLEzAGkxptXn4dAVKdeLp1F1alms1ra98t9mr8Wr2Op/wAwVVh5UsrUmrXWnC1+afgRrYbCmy1g3vo22GdewBEBTGwgbzXfhhKMYyjFfFqzlVelMVVnTlPXIrLTg9xfDXbNoWVS6pCDq9WE5SPePkwX4mt8UopJcClUlKo5Skt9Rl/gtoFuqxRthmLZQ4jUzyYeHoBVWeBpyk3cvQ6WqRik43sKcP4GLdxH/SQwUns98ggj3zG/dSngo05qSb0IV+kutpuDhubZ0bxvW4e225jKT3ldJ9dD61zcRDJUaR2cFUdShGT3JOtBaCgCgE2vqN2A8yKzZsw5JcT1bqnYg+opZhST4nQNYMntAFAFAFAFAFAFAFAFAMeOLOGvj/Kf+Q1KPxIjP4WY7xGyXC5dYYGJUba8yBuB/et1WLa0NFGSTdxoMK3WIxAETmgyNA0LqB9p2Ok8/VQg022ZxE1JWTJnhZ+mt/tj51Zto/B+xVT7S8UaTjMGjHUZuYkkx8TVA6J7cw6hBpzI9Mp01Ph30BGXbeo0BBOvd8/L4VlEWVvjVi3exFtLiobbi6gMsCCGAz9gxObSDOgBq1TnKFOUou1reZVqwhOrGEo3unrrpYoGEuh0W01xEy6EswXMJOU68gAB5xV6nOKeV6fsc3EU5tZ46/vs/wBxT/DrX/ubH/NWrGan/cvmUb1f7H8mcYrh6KCRdRgp7eRg5QTBJUa6an0NaateFNXvcs4ejUqys01bmmJ8M4ebiSSqN9pXOUg9xFZo1Y1I3I4qnOhPLa64Dr/Av8y1/GtbrR5lbrZcn6jO/hQlwL2GgZpEMN9vHatUpK+VFqnF5VN7E+emeMgKL7AAQAq21AA2ACqIFaVhafI3PF1f7hJuk+LYa4m9Hg5X8RWxYamv6UaZ4uq1bMxF+K323v3T53bh/OtipQXBfJGl1Zv+p/NiF+47qRnMnmST+dSyK2hiNTtLNqN+jfBymItObhb3jz10cQZJ8/SqtPDuMruTdn+xbxGLjKnljBK6v6v9i9lavHHsczG2lRaRlSa2A4pxs7DyZhUerg90vkbFWqLaT+bNRw/uLP3R8q87LdnsofChSsEgoAoAoAoAoAoBDHJNu4O9GHxU1lbmHsYyGq/Y5tzrMKzYXHfC2i9bP66/Os8GZi7SRod7HgAHK2gHID51RysvuSRT/aLxxkw9k2ne2etOYq2WRkP3TO9GnHUwnGWl/Uzvg3TTFXcQFuXnyOYCZn0mYhpknaZ8dq6tFxk9UvCyONiKDhTeWUrrjmevkWvgVp2xVvM7GXJWSTBALMup5wT5zWcZBRoySRr6OqOdeLb1V/b79CBx/A7ZssdZKePMf3qeIX+3fgRwlVvGKPe/qQ/AugrYq4q2pRVhrl0gwo5Be9jy7t64d+J6VxLjxLgFjD4drNtfrHS2WOrN1lxVYk8zlLVNK+5rciK6SW1/SHgD7PL9UVcpJZSjWk8xA3bQJ2Hwq1CKKlSbXE7tqBtW9Ipyk3uOCtSNdztaya2KrWTB2KGUP+D/AFtvyP8A3VCPHx/YlV0S8P3LxwfBrdYqxIAE6R+daMZXlRinFG3o/DQxEnGV9OQ8fg1rkzfxr/8AWuf/AKnV5L1/c6v+jUOcvmv2I/jHDUtorKSczEQSDy8AKuYPFzrSakloUOkMBTw8E4t6u2v+DRFGlcg9Ej2gCgCgCgCgCgCgPGEiKAxM6eldC1zmbMOsbvH8CfOJrCgu/wCZl1H9o8TQ1vh8SNFT4X4HeK2NdI4WlzjBYK3fu4a3dGZHvZWEkTNt41BB3A51z+kV+UvH6M6/RDXXy8PqjOOFoVxCGNEurmbkAH1k+Va6dSMGpSZfq05ThKMVfc0jg3E7RuqFuqrB1I3B3GxjmJrOLxdKUOri7t8tvMp9H4CvCoqs1ZLnu7rgKXuzbOo7KxPKRpM1vqvNhb9xVorJj7f9z+pP8MvjrsOqkQbDnKI7k3HpXGdvY9M2NONYcm5YX714N/Cjt8wKkma7FZ4/b+nbyX+UVdpfCUK77RDXhVqJRmxEVuNDHIrJqYA61kw0KpWSJ2KBEjwj6235H/uqMOPiSxGy8EX7ox77/sH8qodKfBHxL/QnxyJXN4j+AVxT0ZGdINRYHfcOwj7orpdG6Z33HH6X1VNd5eKpnUCgCgCgCgCgCgCgCgMXx6RcuDudh8GNdCOxzJbiIqZEDUobohP4WNsdj1UNAZsvvERAjfUkAnwEmuhOqoptK9jjUsO5tXaV9r/wMuEdKLS4jD5s3YurcOUFjlHgOcE6VycTi1WhltY7+DwEqFTO3fSxUWvf7QQrMEa6xUHQNmzZX+Bj41Wvmhdl61pWRJcAuAZmGptiR2bjCeeYr7oidZGp8KUsiUnJ620I1utbioLS+r7iVx/H16gqB2mBEj3VOWee+sValjI9TktrbyRQXR81iVVurJ+bt/BYPZ/fL3cO7an/AGpZ5x1VlgJ7gc0DlJrnnXexNcX49hVxtoPetoLfWhs7ZYcDLl7USdTt3VNbGspPFeP4e5eYrdBBiJDLyGkECKt06kVGzZSrU5uWiELq71biyhNDYLW9FaS0FQamaTwHWsgWU0IHttqGWSnB/rU8j8mrFPj4szidl4Iu3AscltmLtllSAcrHWR3AxVPpClOpGORXLfRFenSlJzdrkg3G7A/3rf8AKun/ALa5iwNd/wBPqjsvpLDL+v0YxxuPS9dw4QkxcEypXd0jQ+VXsLh50YTc1uvozmY3FUq9WlGm72f1RoFc07oUAUAUAUAUAUAUAUBj3HFjEXx/m3P5zV+n8KOdU+JjGthqOmWRMhd4LTEx4Ak+lRc7bbk4wzb7FaxFsWwVvEAqSpBIgRoSfvEnWfGrqqU1BSm13ffM58qdV1HGmn3te1+XA5kJYW9aKH6caTrIXOpyblSANR5Vya1a94rZu526NC2WcviSsdcCwQfDu1/rEtW1Q5rVlblx8+IIEc4U25I1PONdauZJ2vqy3wO+HYm3YecPYxmXtqzMyJnBVh2rYG2sgHb0rbCnKbtHU11KsaavKy8xPEXBcssiroJAR8ikPHZQnQZzmABE0m6iWWT2MUo05PPFb639yU6OX2w9qw5KLAvQ2dZDuhREjkWK6HUd/cdKmuBZlSkt0yodKJa/cvrbNvMSBmIMD4tLEzufHnpJTUjU42ITDJqPPv5gHlzrNzFhob7qSAzCDtJFSUmtmRcU90e/p13/ANR/4m/rWesnzZDqocl8iycI4oT9G5k/ZY7nwPj866OFxN+xLfgcvG4S35kNuPcSyXNavnMaFlu1kg0KWzQwyW4N9av7J+RrFPj4sYnZeCLCTWwpoTY1gkOeDCcRZ/4qfgwrVXdqUvBlnCK9eC70anXnj2AUAUAUAUAUAUAUAUBiHSvH3P8AEMXatpblHB7dxlJDqpzgBT2ZJEzyq1TnK2iKlSnHNdv0Gi4XHFSxSykbD6V2Ose7AgeNYddp20JRw8Wr6ivEsDLub+LYaMy2bNoyADAUsBBJ17OYGtalK3ZNrjC95ELx2/g7d36VL7m4qN9hD2rakAasZ1AOg1moq77KJuyvJ+/37iBvWWUdThluEmCmIvOpQ5oVSVZVyxrJOmoI01lKk0m29iKrJyjFLe/oI9IuILbxL27CW3yi2v0EC2SE7RzSQSC2UkT7vhWlI2vmhS3jYJAho+7J189BzNdGgqVGWbNc5WI6+vHJlt5iL4mGJ6oNJzEN1ggqVhjkZdZC71VxNRSqNx2ZewVOVKkk90S3FmWz1fV2rbZGyoGa8wANtW26wA6s2pmtDpw5Fz8VV5+iK3xR77t1ubtHRgQArAAASBpoBFRai9DSrkemEzOCCBzM7bEaGmyJJXIPFW8rssgwdxtU0QYkxrIJJ95/1508DBPcMx2cQfeH4jvrr4XEdYrPdHExeG6p3js/Qk7Zq2UGObNZIMmOC/Wj9j8qjT4+LMYnZeCJ4mtpTE2NYJD/AKOCcVZH6/yBP5VoxP6Ui5gV/uIeJqFcA9aFAFAFAFAeMwAkmB3mgERigfcBbxAgfEwD6UB7Nw8lX1Lfhp86Ab3bjTlDy33UQaeZYkL60BlvtAwROJJEJfQq63veOqDskAAFY0IjWJrfCDcb3K06mWdrFR4ZxJnttcN66WuGCQxBaJPV2lnQgc/x0kZjGL7VjM5zXYT0+9WSXE1vF1y5LSFLTajO8lFLL90QZE67GtsU7WRqnkTu9fYh+O4HLcS4B1jGyoOaJOUskgxE9ny8qtUKWW8krv7ehTxNbNaDeVNX+mvcRly8uV4QgsIMxuIgETpz+NRruLhJpWvuSw8ZqcU5XS29b+4w+lYKuoCkwIcrPMDIpM89QBHMVyrHYuc37hZkVUALBe0NxmPM9w1rNhcTs8SZSQyLIJUqzbGCDy3B/EViwuTGL4gepV8tu5OhBugkEA/q66D4CpyiYTGfD8f1hZjaVQEOUaEaETGg76hYlmGBvl1tysHMST2h2dgp1jnPpWLWRi5BvufM/OpGDlqAkXOgrKMM7QlSGG41FZjJxeaJGUVOOWWzLJw/GC4sjcbjuP8ASu1QrKrG/HiefxGHdKVntwJG01byoya4L9Z+4PktYpcfF+5jFcPBexOE1sKiQmxrBIk+iYnGWfNj8Lb1Wxf6Mvvii50er4mHn7M0+uEesCgCgCgEr97LGksdAvf/AEHeaATXCyc1ztHkPsr+yPzOtAK3rwUSfIDck9wHM0AlkZ/elF+6D2j+0w28h8aAXt2wohQAO4UBlPtLlsb1Y2NlHc+BZlA8ScrfD0NmjrGxUraSuZ2EXD3LnVgzmMAkkKDBOXumB5wO6sJ5G7GzL1kFc6xvSK8VSAq5RlJ0OmYlWjlvHpWOua2MvDxe4ljuOE2bJDKzDrEaMs+/mXTkDnb4Gpfiqi2e5rlg6UrXW3jzuQ1/iJbRlmRpIHxH9ai8ROXxa+JOOHhH4dPAQw2KZWIGqtIIluyDrKkGVMqNjBEg6aVqubywcHWwUyw7Xbwt2UJGUIrPDuxUmY7Ongd6yoZmtNtfkHJRWo46f2UtYm71VtFLkMVy6gZAS0ac8xnvmt6qqELJau5WdJ1Kjcm7KxA2gEw6GSAG15yHt3AdOWgYeObwquti0OrroSxtgdXlvBQAQSQ8yZ37LIP3aWtcN3sMON4a5bZmdTAvXIbKVVhmMFeUEaiOVYZgibNvXNAIDe6RIPgRS9huNmUa8tdt9PP4UBIBJAEjTeNeXhS4sKwO+TyAFBYX4fdC3QAN9D/qasYVtVVYq42KdF34Fltmu0edZN8CP0h/4Y+S1inx8X7kcXuvBexOE1tKgkxrBkmuhQnGJ4K5/wCgj86qY1/ks6HRi/3C8/Y0yuIeoCgCgCgGuEGYm4eei+CA6R57/DuoBXEXso2kkwq957v70BzZsQczav38gPur3D50AvQBQGN9MuIqcXfkOCtwqWgZYCqFA1kCIOoGpNXcPHslDFTtJGaYvHy7MebE+k6fhFaG7u5birJIirt0sTqdSRAO8Hn8a0s2C1lOyV7jnj0hj/LTczYTvXJ2aQoABI1bbTyGsAnQDvoB9cvYdMMpWTimbK0kEIknK6r9pj2R5a76hYX4Ez0Xs3LN23cuLdVFEsBadg0MYBGxiQ2vdI1AqSlYwo30Y56eOMRi2vWsroyIArN1bBgD9liDpPMRrWL8AkMsPwW71CDqy5F1Syi4oHuOIzqexo76zpA79WxIR4pgGtNLhQzrdJyuHEyDyHjzmfSid7hpcB/xzo7mVDevi2MsKWQmAtsZVMRHuxtz+OqVTLrY2KOfTkU3imDt2snV3etzIHaBGRjvbPeR31OMr30Nco2tqNcHhi7QsTE6mKmiA8w6G2xDCDpymjMoVNwKM2VjJIDaD4VEyHB1m6D3An8vzq5hI3qJ8ijjpWpNcy0Wq7BwGTfAfeP7C/JajS2fi/cjit14L2RMk1tKpwxrAJ/oEJxflbc/io/OqWO/S8zp9Ff9R5P6Gk1xj0oUAUAhjnItuRvlMecafjQCttAoAGwAA8gKAb4UZibh56J4L3/vb+UVhAdVkBQCN3F21951XzYCgMV9pWKtJicQ1pg3WqrEhiRmyLb09F5dw03qzCVqZXnHNMp/EeEhBLNbtlbanJcbLcfsntIsSwJUjzrErWuiUL63VtSBuYHKtuGDZ1zsBPZJ+y3jEVpkrG5HVjANccKoLtyUCT5/3qJncb3sqjKpzayW5eSju8Tv4cwEHVdCSc0iBl0gc807zyismC0Yj2jYo21tRYyjT3Lk/wA/nWbi2o//APGNzD9XCW7qsAQwLW+QOqGSBB3rNrMwSVr2pXCs/o6hgD9piNMsa6byfh41jSwGlz2m3h2jYt5mEL2nC6N477d9YaMpiHRDjF3EYu6bzyGUwuuUS4ORV7onfkvrVbFR/Lfcb8O+0UriGDa0zIygEwYU5gum2hO4IPwjuqyaXuMrQ57ePjRGB6jnmSdtTMgVICvEbk5APdA0FRMsV4PpcP7J+Yq5gn+Z5FDpBfl+ZZLTV1zhNE5wA6t+yvyFRp7fP3IYr4l4L2RLlq2FVCbtQyWT2dCcU57rLfz2/wC9Uce/yl4/RnU6JX57fc/dGkVxz0YUAUBFdKMetjDPccMQMs5RJ94cqlGOZ2IzllVxW5jVu2Q1pgwuEIGHiYPkQJPpUWmtCSdx1cvpbAzMqDYSwHprWUmYukV/pxjbtu2ptOV3mIBMFee43NRvYyQb8RzjtMZ5hiSf7jxoZsNMRikVSZ0FSinJ2RGclFXexQ+k91L122QTAgQAdTO20Dc6n8at/h6sWlJblSOKozTlB7eXuR3SvEXGt6hNSqgxmuHkAXJnv2ga7VKrhci33ZGhi+snazWncOcGFtavh0vqtuAbhYrbymSci/WEiez4VsxdBRSa4eRrweKc21Li9OPsNeIdNMUDkslMPbmMli2ia66lolT5GNOcTXPujpyi1uU62JOVQSeSgSfgPSsJX0MN2V2Lvg2Gj22B7i62yPMMJrLi07MxGSkrrVC9vA2wZgHYyzlh4jsCCOVY0M2F+KJbLE4YXOqgDtW87aHVQSdAIAEa6VlsWYrhsGdR1ZcEDtGQBrJgeI0qGYlYTx9ohLakBcgImdWlp1nuObaNzU89yNrD7objOquPcyliEAAUe9LCRtvMHynyOurT6yLiiUJqDuxR+DXXtgZW+0QCAoBLAjtZpPvNy5t36244apJaIqTxlGOrl9fYZcc6Orh7CPN3rWcAqVXqgMjNCsNS2g+B8KjUw86eskZo4qlW0gyEwt18wA102PMd34VrTN45mNW1gaAd52k+hqLJI94Q/wBL6GreC/UKOO/S8yx2zXXOGyd4B9r9lPlSnt8/c1Yv4l4L2RKlqmVTh2oSLZ7NB9NePdbA+Lf2rndIfAvE6/RC/Ml4GiVyjvhQBQGb+3dmXAW7i3blvLfUNkJAYG28BgCARmCbzWU7O6BVegfSM4i7Yw97rAbhM21Z7cmD9KsxpAaYM6ECasZlJZtLo0ODTtrZ+hrtno5hV2soT3vLn4tJrS6s+ZNUoLh9SmcSxgODw9szmVLi6/qXMm/mlKq1uZpvs2IK5iDoTMj3Y0I0GvzrVsbBtjOPo1i4t0ZWyHtfZPcT3ajyrZRklNPvI16eam7DK1gBcRWstmYqMyyN4Gx8fH410ljZUp5ZrTgzlT6PhVhmg9eKIq9mI1w6XRtqXLIwI7aEAZWGogg71qxOJlJrS1tTbg8JCClre+j4D/hmHNwLnUgjU+8FHepjX1EE1bhnrU9eJTqyp4erdbLhyFbvQt77N1SjtHNpbLAa79uRPjWqVClCOWUkn98DZDHV5yWSDa++L0JBeBtgFRbzx2CZJRVPa3IBifXarOF6rL2Htx2KOP6+Uu2t9Ut7cCodIktXL2ZVVgVEmNCZMmefLWszp05u9ieHnVhBRbaEHt2ltNlQ5gNFylwfzrn18GknKPyOnh8a21CdvHb+BXhnR264DFmQRlIUOh1MgyNGWDHPurXSwdSprsu8niOkaNHS933fbLHY4COrZHzNOXtM7BhlnYqec6zVyPRsf6mc+fTL/pX399wra6O2gACoaNplo/iJ+VWY4OjHgUanSeInx+ntYkLWDRdh+X4CBW9U4rZFSVapLVsUVANgB5CpmptvchuKcOZgc10srXUIRwuVZYCAQsncDWqlWDvq7ptaaHSw9VZdIpNJ6q92RXEeiFnKzglHUFhk92QCdQdOXKK01cHBptaFjD9JVc6i9U+ZRnuEqREQJMDn3n5Vxz0Qpwj6weRq3g/1Cnjv0ix2665w2if4Hs3kn8tYpbeb92asX8a8F7IkmNbCqJsaGS6ey8dvEH9W2Pxf+lc3pF6R8/odroddqfl9TQK5Z3AoAoCM4/xAWLWaAxLAKG2mCZ+ANYYMM9ouPe9jjcJgjBhVKswCgNdzRrzkTWYu9zbRSkpGx+znE9ZwvBMTJ/R7akzOqLlOv7tZluajPunF6LYa2fq8RjEBHhcR48feNWowvJKXFIpupaLlHg2Q3DuIdYgnR4mO/wAR/Sq1WCjJpFqnLNFS5lV47jTN0FjAVFgeJM6fvCluxfvF+1YR6P8AHikAnJkAVWHukDYONx5j1BrMZ203XL9uQlDNqtHzLdwrFh2JBEnUwQd9eWkeVdjBSjJWRwOkKco7l3s8bwli2k2wXyjMSATmjWC2vwFa6tCtOTTlZcNfojZQxGGpwTjC8ra6cfFkdjumxRHezaAAUmSNTA72/MVCHR1GlFyt9P5JS6Sqzkoqy9f2RQuL9JruMFt7oGklRuRPjAHwFb6Si4pxViFVSU2pyba05egxDzvyrcaHoOFVoGSAZ3IkDWsO9uyIuKl2ti44Rb2di7obZHZVVIYa6SZg6eFbo58zu1Yo1HScEoJ34u+g9BrYV0gmgsczWDNjylxlGPE72UKSrMOsScokgAhtufuiquJk0lbmdHA04yzKTsrb+Lse8TkWrkiCFuAjxCMDUusz083NEY0eqxGTk17mV3iMpCjlXAPVnPCPrPQ1awf6hTx36ZYkrrHEZYOC+6f3f5BWKW3m/dmrF/H5L2Q+JrYVkjhjWCVi+ey1dMQfG2PgH/rXM6QesfM7fRK0m/D6l7rnHYCgCgKz09I6i2OZuiP4Wk/l61GRhlDxOFtFlZlUuoIBgFgDuAYkb8qi0YcrFr6OcbWzw+8ZE2M2VfBtbY8i5K1toRzyUTXOqoQlLkZ7cecDckyRiNT/AMWw0/Hqq6WIVqsbfepzcH2qMk+fuiqX7hhFSZJUAg7HKPzqnNXqyXezpU3anHw+gt0h4WvVF1aSSNfvEAcuR02qSpyccqRHrIqWa5XcLgArnrpCkEyu4IEhT4HaeVa62HqwjdamynXhN2PbWugKpJiDpljQSwGbSRPfUUnwJ3J7g3GEtqbOJi2yMde0QRPfqe/nqIq/hqkYNOTObjKUqqagrj7jfH0UdXbVbmdD2xcUhQdNhufWrP4tVE1FPzKUejnTkpTl8iE4TbPVqDy09AaYdNU0mTxck6jaHrpEVvKqdxS22/8ArnRBl4stovio+VbzntCs0MHk0CQVG5Kx4TWDNhjj3YNaykgG6Q3cV6l9D3iY+AqvX4a21+hdwbtm0vpt5o94u/0V0/qXD/0NWXFQp2XL6CM5VK+aW917oydmOsg6iuCepOuEe/6H8qt4P9QpY39MsNs11jjNFj4J9Wf3f/jWo09vN+5rxCvPyXsP2qRpsJMKXM5TQvZev0V4/wCYB8EH9a5mPfaXgdrotWhLx+hdaoHUCgPGaAT3UBn+PuXcWwZjAE5VGyg/M6DX5Voc2zKiQy4G7bZyXDBZEZADrrObeoxjN7mG4q9kVvjmO1yjnqSOY7vHUD4V0MHBxlmOZjaiaylk4t0YutZFnDsc36FZutbWIvMt24XE8yOsXL8PLd10XLM+f+DZ1Eowyx5fPn7mX4exmuopOUFxOsR2td+cTUq1PecRh6m0JD/jUC7cCqQiNA5jYag/aERrU6FVW13I1aTvoIWMF1k5ROhPoBJ/AGtzkuJpSexD8XtlCY0IAjuYaAz8B+FUasct0vtF+jPMrv7aFrYS9bBiWRQGJ3K7KfSMs+VSpJTTiyNa8GprzG6poPCR8IqeG0biRxGqUiXwrSB5V0UceotRyVkT3VlmtCuGTvrPAw3qW7DHsp+yPkK3IpyWrFjS5iwTWDNgmsErHk1gDTG4YXMu4yuGBBgggCINaqtNVFZlmhWlReaI3x9oJhriroFsuAPAWyBUZrLCy+9DZRk51sz3bT9UZX1m48BXBPTi3DNH9D+VW8H+oU8ar0/Mn7JrrI40k0Wfgw+j+H8i1GG3z9yFb4/JeyHTtUjVohMtQX5Fw9nnHFtMbFyALjSr/rwBkPnAjx86o4yk5LOuB0+j66g3Tlx9zSa5h2QoDwigKBwu4ETtaBRqfKq2xNbETxDjKBbjFCRDE95AkwPGtimrWNUo8Sr8IxeFxQcm0yupA0uswgiZkAc5G3KtjqzgrRengjUsPSk8zWviXrojxQvi7CHZMPetjvILW2UH9kIR60pzbg4s2SXbTLP0jtWcPhMZeFpFIsXncqiqznq2JkxqT499Scm9GSUUtj5stNds2MOzMWW4r3FUjTS9ctsJ3k9XP7wq5QjFxbvqVa8mpJcB9w3E5pK6c47vCrNNplSqnEQ4xYLy25/1pUa9O8bolh6tnZkTg8Utlg0MTqCukFT7w8ORjvjXupJpNP7TL7Taa+2OrqBfdOZWIZTzytO/iNvStuHbc3c1V1aFh7hNvLSa6S0ORU1HfhUkaWLW9APKsp3IyTTLVg27Cfs/0rcirLdi80MWCawZPJrBmwTWDNhC9fK7Lmk6iY0gag1or58vY3LWG6rN+ZsNOkF5bdm6HdZay2XWM2ZNCFJnntrFVKOKVfDqbVnqpLlJXTXz9NS3HCuniLR1jo0+abTXoZabB3iZAiucdwd8IH0hB+6fyq3gv1PIpY92p+Y/a2wYBJkmBHPuEc66bRzoyi46l2wdnLbVTvlWe6comsQ2++ZWq6zuu72QoTUrmtRRwTWCSQm7jvrBI1foFxi5iLBF1WlIAuEGLikaGeZEQfQ865OJpqEtP8HcwdWVSHa4ceZZ6rlsKAzfErHXKeTt+Dn+lVpkhTCYRCNh6waxFJ7kmSeJ4WnV9kAabAAD4VvlFWNVys8Ci3xCwTp2yv8AGjKB8WFYi7MhxF/bpx8JhreBR1F3FOubMwVUtBxLu32VLACTpAfurYbCt8d4hhMVhLPD+G4XEY25hlVExNtMltG+0WcjUMQSQQAdIPMThNxd0RnBSWpVsH0M4qt8oMI4cRIMZIIB+sBKHzmrMJv4rpFecF8Fmyy4joDxIBf9mDE7xes9nwaSPwmtqxcDS8G73TGnSX2R4u3hv0hWR7oM3LFsMQqR7ytE3GHMBRvpMa06tRTldKxcpwyK17lBwTwrZmGiyIMwM2gPLvOk71mnLLK4qRzRsTeCWVleesc/PxrsxSaOBUk1LUd2RRkVzFkOlYQZY8Cfo08qsLYpyWrHE0IhNYJWCaGTwmsArHTfF3EtJ1bFZuQSDGmQ6T6VTxlSUIJxdjpdHU4Tm86vZfUgeOo3U4N3Df8AloZyGjW/eKKXI3yldCZ1rzeDkpTrNf3f/Mb+p6SorRiu76ivCOHC7bDnVFAkenP9XlPfXVw0acqqhPxS587Pu4rc5eNrzhTbp+Df9vLTv4PYeYvCtbAIXKp27MD0766kKlNtxg1pvbgcrJOylUT14viPuA4LXrW/d/NvyqdyE3wRNoCYABJIEACSdOQG9Qi7K7Mzi3Ky7vYn+HdDcVdglRaXvuGD6INfjFaJ4qnHbUs08DVlvoWrhnQHDpBulrx7j2U/hGvxJqpPFzltoXqeApx+LUsA4TYhR1NqEMp9GnZPMrpoarZ5cy31cLJWWg9qJMKAY8buXVsXGw4U3VUlQwJBI1IgEakSB4xUo2vqRle2hmeE4kbqNceJcFiQNCTJOnLWqM6iUnF73NsU3FMl8Adv7VKO5ksI7Vv/APfz3qy9UaeJSukKG2wu80ZXEd6sCPltWq+piQ8s+y1MTjLuN4hfOJFx81u0oKIEn6NXMywCwMogaazNbiZomCwdu0gt2kW2i6BEUKo8gNBQC9AFAMeN8TtYay92+2W2o7RgsddIAGp3rDaW5lK58g8O5r3qR+BEfjUjBbcJwy51QxChuqWFZhspdRlzjkO47TXX0zR17ziNvLPS6vZ9wth2DhjsVMbb671vhPPfTYqzp9Xl139BSzEVjUloT/D2+jT1/Ot0dinP4mOprJE8LUMhNYMXZxccASxAHeTArDdicYuWw+6LcQw/WszqtwC2erzKDb6wugU5m0Ghbtd084B5PS1WKpJZczb0XN67fV8Fqdfoqk41JSbtZa922/3qaxw7DBLSpodNSIgk6k+UmuZh6XVU1F77vxer9TtTlmlcy/jyLYxd57dtNXMjLz5kHlJHKvN9IYqrXqyoyk8sXok7W4F7D0KcFnUVd7se8Kx1rEs1pwA2WShysCPXzGhHOuHUp1MMutg34q6ZZlJSWVq45xHBLKwUtr3RuPRdhVyH/EPSFSGR1Hpx0v8AO1ypHo3DKTlkX0+Ww94TihhiqqLa52Ay5VDGSANQJ+O1dHAdJY+tJJXmuN9l/wCX+RUw9CC0Sj4fsXevUlAKAKAKAKAKAxvpbw65hcYyWjFu8c6D7IzHtL4QZ25EVKrSpTp9ZNar5mhVKkKmSL0f2yb4dc0FUolssuBaVP8AerS1ianuV7pag6snw8/7DyrRJ2MS2PPZh0jIjA4gw6gtZJ5pJPVeajUeGn2dd1F9ZS6xbXsQi3FqEt7X/g0apG0KAKAxv2jYW6uJuMbty5YJHYd2K22ZZyhJgLroY/rXRwk4S7Dir+5y8fTnFZ1J2MxvcFylruaTJYKFgbzB76lUwLV5377EKPSN3GCWm17mt+xG/ba1esuVJZUPVtBzL2w3ZO4grPnWnEp5IS7ixhZRdSpHvOuN9EcPZx9i0s9TiSZtyexDAEK28SwIHLy0rdRrydKT4or18NBV4LgyA6U9D7uBafrLBPZuxt3K4+y3jsfwG6hiI1VbZ/exoxOFlSeZar73E+HmUHrVqOiOfOzlcdopJAUFidgAST5Ab1lysrsRi5O0VcnuH9EcTc1Ki0ve5g+ijX4xVSeNpx21L1Lo2rL4tCT4j7PC1qLWJK3d8xRchH3Y1K+cnyqr+Pk3tp6l6PRsIre779vkQb+y3ECW/SVuH7rK34MSfhFa6lalVfbT04ptP0sbPw9WEbQkvBpW+o/4b0EML1pLQQery5U8iRH4a91aFKNOWamtf7m3KXzd9O42fhnNWqyuuSSjH5Lc0TC4dbaKiKFVRCqNgO6oNtu7LMYqKsjL/aIeovXDE5xmUQYMjX8Z/CvM4nATnjG0uy9b+/qdGnWSpd5SehbMeKJdYgZ0dIiNQkgD0Un0rf0th1T6OlCOyafqa6M81ZNmpX20NePwyvOx05PQiejvBr127buBTkDqxdtAQrA6c2O+1fTIxUVaKsjgXbd2afUgFAFAFAFAFAVf2g8KN7DdYgm5YPWL3lftr8NfNRUksycOehrnpafLX9ygYDGiBkulR90gEDwE6iuPUnXoO04FiEYVFenPQlrfGSg1uDz/ANGsR6QrPSFNt+b9iTw8VrOfscgXr/1Nq7e7mK5bevczQvwrKweLxD/OahH1+S1+ZB1qVP8ATTk/T5vT5HfD/ZziGuC7duraYMHBSXdSNo2A+Jrv0p0qFPq4K6OfKhVq1Osm7Pu+/wBzTxVYuntAcvMGN4086Awrpbx7FX7ht4lbdsoYKrbAIg7ZzLRzgGDvXXw1KmlngcPF16rvTnoisXg3PWPxq22ylHKd4DFXFYOua0yEFHkBgY309RWqDdSNpo3VMtKd6Url4s9KmxmJ4f1q5btq6Fdh7rh7tmGA5HstI27t4GhYfq4Tts1+5ZliutlT5p/VGv37KupR1DKwhlYAgg7gg7iuUm07o7LSasysYboDhUYn6QpMi3mhVnlmHaI9fjVv8bVy29Sl/p1HNmt5cCxYLh9q0ItW1Qc8qgE+Z3PrVWU5Sd5O5chCMFaKsOaiSCgCgCgCgGXFOFWcQuW9bVxyncTvlI1HpQFFxnszFu/bv4R9UcMbdzmPtAP4gkaj1rRiqPX0JUuat+xKnLJNSLTw/gJkNfKt3W1nL+8T73lAHnXNwPQtHDPO3ml37eSLFXFynotET1dkqhQBQBQBQBQBQHhFAUuz7OLGdme45UsSttYUBSdFJ1JgaTpVl4mVtimsHC92/IsHDujmFsR1dlAR9ojM38TSa1SqzluzfCjThsiVrWbQoAoAoAoCqdOeiS4xM9uFvqOydg4+4x+R/Kt9Cs6Ur8CticOq0bceBjd3DMpKsCGUkFSIII3BHI12oyUldHnZxcJZZLUTNipELilgMCCpIIIIIMEEbEHkaW4C9tUat0L6bdaFs4ohbuy3NAr9wbkrfgfA6VysThHDtQ29juYTHqp2J7+/8l5qidIKAKAKAKAKAKAKAKAKAKAKAKAKAKAKAKAKAKAKAKAKAKAKAKAKAp/TnokMSpvWQBfUajYXQPsn9Ycj6HkRaw2IdN2exTxeFVaOm5lJUgkEEEGCCIII3BHI+FdmLTV0ednBxlZnSr3VIglcecP4RdvGLaM/flEgeZ2Hqa1zqxh8TN1OhUqO0Ua90Tw2It2AmKYMwPZ1zMEgQGbmZnv0jWuJXlTlO8Nj0eFjVjTtUev07yarSWAoAoAoAoAoAoAoAoAoAoAoAoAoAoAoAoAoAoAoAoAoAoAoAoAoCp9KOhSYq4LtthacmLhyyGEaNAI7Q015j0q1QxLpabop4rBxrWezFeF9BsLaguDdb9f3fRBp8ZpUxlSW2hilgKUN1fx/Yslq2FACgKBsAAAPICqzbe5cSS0R3WDIUAUAUAUAUAUAUAUAUAUAUAUAUAUAUB//2Q==">
            <a:extLst>
              <a:ext uri="{FF2B5EF4-FFF2-40B4-BE49-F238E27FC236}">
                <a16:creationId xmlns:a16="http://schemas.microsoft.com/office/drawing/2014/main" id="{D9FED6ED-1C36-0EC9-261E-726E604D1384}"/>
              </a:ext>
            </a:extLst>
          </p:cNvPr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1" name="Google Shape;271;p14">
            <a:extLst>
              <a:ext uri="{FF2B5EF4-FFF2-40B4-BE49-F238E27FC236}">
                <a16:creationId xmlns:a16="http://schemas.microsoft.com/office/drawing/2014/main" id="{A1E5BEC2-6AE7-A55E-85A4-E327174AFCBD}"/>
              </a:ext>
            </a:extLst>
          </p:cNvPr>
          <p:cNvSpPr/>
          <p:nvPr/>
        </p:nvSpPr>
        <p:spPr>
          <a:xfrm>
            <a:off x="4887686" y="1219200"/>
            <a:ext cx="3816928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Furniture</a:t>
            </a:r>
            <a:endParaRPr dirty="0"/>
          </a:p>
        </p:txBody>
      </p:sp>
      <p:sp>
        <p:nvSpPr>
          <p:cNvPr id="272" name="Google Shape;272;p14">
            <a:extLst>
              <a:ext uri="{FF2B5EF4-FFF2-40B4-BE49-F238E27FC236}">
                <a16:creationId xmlns:a16="http://schemas.microsoft.com/office/drawing/2014/main" id="{CF30A1ED-595C-71D1-A600-F38926A0CA6B}"/>
              </a:ext>
            </a:extLst>
          </p:cNvPr>
          <p:cNvSpPr/>
          <p:nvPr/>
        </p:nvSpPr>
        <p:spPr>
          <a:xfrm>
            <a:off x="4876801" y="4038600"/>
            <a:ext cx="3816929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AF76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ibre Franklin"/>
                <a:sym typeface="Libre Franklin"/>
              </a:rPr>
              <a:t>RBD Palm Olein (Cooking Oil)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91BEB-BA31-744C-915E-806B709FD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17" y="1884590"/>
            <a:ext cx="2992210" cy="1860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5C96C0-9057-DC2F-47B7-0673FFFD0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17" y="4659086"/>
            <a:ext cx="2992210" cy="1978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AACD21-3FA2-EBFC-A1C9-92F2D1C4E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1" y="4659086"/>
            <a:ext cx="2354580" cy="1978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CD79C0-36E6-7BBF-D065-7541124F8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338" y="1884590"/>
            <a:ext cx="3095624" cy="186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89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5D79-66AE-13B4-6CBB-BA69F236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US?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23B86-020E-241F-CA54-AFECF7CE7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148590" indent="0" algn="just">
              <a:buNone/>
            </a:pPr>
            <a:r>
              <a:rPr lang="en-ID" b="1" dirty="0"/>
              <a:t>Our Competitive Advantage </a:t>
            </a:r>
          </a:p>
          <a:p>
            <a:pPr algn="just"/>
            <a:endParaRPr lang="en-ID" b="1" dirty="0"/>
          </a:p>
          <a:p>
            <a:pPr lvl="0" algn="just">
              <a:buFontTx/>
              <a:buChar char="-"/>
            </a:pPr>
            <a:r>
              <a:rPr lang="en-ID" b="1" dirty="0"/>
              <a:t>Global Network:</a:t>
            </a:r>
            <a:r>
              <a:rPr lang="en-ID" dirty="0"/>
              <a:t> Extensive relationships with trusted manufacturers and suppliers worldwide.</a:t>
            </a:r>
          </a:p>
          <a:p>
            <a:pPr lvl="0" algn="just">
              <a:buFontTx/>
              <a:buChar char="-"/>
            </a:pPr>
            <a:r>
              <a:rPr lang="en-ID" b="1" dirty="0"/>
              <a:t>Logistical Expertise:</a:t>
            </a:r>
            <a:r>
              <a:rPr lang="en-ID" dirty="0"/>
              <a:t> Deep understanding of international shipping, customs regulations, and efficient freight forwarding.</a:t>
            </a:r>
          </a:p>
          <a:p>
            <a:pPr lvl="0" algn="just">
              <a:buFontTx/>
              <a:buChar char="-"/>
            </a:pPr>
            <a:r>
              <a:rPr lang="en-ID" b="1" dirty="0"/>
              <a:t>Financial Stability:</a:t>
            </a:r>
            <a:r>
              <a:rPr lang="en-ID" dirty="0"/>
              <a:t> Strong financial backing enabling us to handle large-volume transactions and offer flexible terms.</a:t>
            </a:r>
          </a:p>
          <a:p>
            <a:pPr lvl="0" algn="just">
              <a:buFontTx/>
              <a:buChar char="-"/>
            </a:pPr>
            <a:r>
              <a:rPr lang="en-ID" b="1" dirty="0"/>
              <a:t>Agility &amp; Adaptability:</a:t>
            </a:r>
            <a:r>
              <a:rPr lang="en-ID" dirty="0"/>
              <a:t> Quick response times to market shifts and the ability to pivot to new product lines as opportunities arise.</a:t>
            </a:r>
          </a:p>
          <a:p>
            <a:pPr lvl="0" algn="just">
              <a:buFontTx/>
              <a:buChar char="-"/>
            </a:pPr>
            <a:r>
              <a:rPr lang="en-ID" b="1" dirty="0"/>
              <a:t>Quality Assurance:</a:t>
            </a:r>
            <a:r>
              <a:rPr lang="en-ID" dirty="0"/>
              <a:t> Rigorous quality control processes to ensure all traded goods meet international standards.</a:t>
            </a:r>
          </a:p>
          <a:p>
            <a:pPr marL="148590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4257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17CE-EF43-AB4F-FE1F-EBE93FDE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MARKET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45492-791E-CF3E-3635-9CF6FA283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48590" indent="0">
              <a:buNone/>
            </a:pPr>
            <a:r>
              <a:rPr lang="en-ID" dirty="0"/>
              <a:t>Our primary markets include: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D" dirty="0"/>
              <a:t>Region 1: The Middle East North Africa (MENA)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D" dirty="0"/>
              <a:t>Region 2: Southeast Asia (ASEAN)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D" dirty="0"/>
              <a:t>Region 3: East Asia (China, Japan, South Korea)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D" dirty="0"/>
              <a:t>Region 4: South Asia (India, Pakistan, Bangladesh)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D" dirty="0"/>
              <a:t>Region 5: Domestic distribution within our home country.</a:t>
            </a:r>
          </a:p>
          <a:p>
            <a:pPr marL="14859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9626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9D05-35A7-3C36-79C8-7B02BB4E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PARTNERSHIPS &amp; CLIENTS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9C718-01E8-D921-DDCD-C6B23DBC8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148590" indent="0" algn="just">
              <a:buNone/>
            </a:pPr>
            <a:r>
              <a:rPr lang="en-ID" dirty="0"/>
              <a:t>We are proud to collaborate with leading manufacturers globally and serve a diverse clientele ranging from large retail chains to specialized wholesalers and government procurement agencies. Among them are:</a:t>
            </a:r>
          </a:p>
          <a:p>
            <a:pPr marL="0" lvl="0" indent="0">
              <a:spcBef>
                <a:spcPts val="0"/>
              </a:spcBef>
              <a:buSzPct val="70000"/>
              <a:buNone/>
            </a:pPr>
            <a:r>
              <a:rPr lang="en-US" dirty="0"/>
              <a:t>Domestic Clients: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PT. </a:t>
            </a:r>
            <a:r>
              <a:rPr lang="en-US" dirty="0" err="1"/>
              <a:t>Altnoor</a:t>
            </a:r>
            <a:r>
              <a:rPr lang="en-US" dirty="0"/>
              <a:t> Global Venture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CV. Saira International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PT. Humaira Inti Natura</a:t>
            </a:r>
          </a:p>
          <a:p>
            <a:pPr marL="0" lvl="0" indent="0">
              <a:spcBef>
                <a:spcPts val="496"/>
              </a:spcBef>
              <a:buSzPct val="70000"/>
              <a:buNone/>
            </a:pPr>
            <a:endParaRPr lang="en-US" dirty="0"/>
          </a:p>
          <a:p>
            <a:pPr marL="0" lvl="0" indent="0">
              <a:spcBef>
                <a:spcPts val="496"/>
              </a:spcBef>
              <a:buSzPct val="70000"/>
              <a:buNone/>
            </a:pPr>
            <a:r>
              <a:rPr lang="en-US" dirty="0"/>
              <a:t>Foreign Clients: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Premiere Engineering &amp; Development </a:t>
            </a:r>
            <a:r>
              <a:rPr lang="en-US" dirty="0" err="1"/>
              <a:t>Sdn.Bhd</a:t>
            </a:r>
            <a:r>
              <a:rPr lang="en-US" dirty="0"/>
              <a:t>. Malaysia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Wataru Co. Ltd., Japan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AMAR Holding Group, Russia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Dalil </a:t>
            </a:r>
            <a:r>
              <a:rPr lang="en-US" dirty="0" err="1"/>
              <a:t>Altawasul</a:t>
            </a:r>
            <a:r>
              <a:rPr lang="en-US" dirty="0"/>
              <a:t>, Saudi Arabia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Al Habib for Export, Egypt</a:t>
            </a:r>
          </a:p>
          <a:p>
            <a:pPr marL="342900" lvl="0" indent="-342900">
              <a:spcBef>
                <a:spcPts val="496"/>
              </a:spcBef>
              <a:buSzPct val="70000"/>
            </a:pPr>
            <a:r>
              <a:rPr lang="en-US" dirty="0"/>
              <a:t>Aiza Jaya Trading, Malaysia</a:t>
            </a:r>
          </a:p>
          <a:p>
            <a:pPr marL="148590" indent="0" algn="just">
              <a:buNone/>
            </a:pPr>
            <a:endParaRPr lang="en-ID" dirty="0"/>
          </a:p>
          <a:p>
            <a:pPr marL="14859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5098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8462-C1E0-A7FC-5447-177A6617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US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87EDE-935D-0037-12B4-7B5F63DBB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8590" indent="0" algn="just">
              <a:buNone/>
            </a:pPr>
            <a:r>
              <a:rPr lang="en-ID" dirty="0"/>
              <a:t>We welcome the opportunity to discuss how PT. </a:t>
            </a:r>
            <a:r>
              <a:rPr lang="en-ID" dirty="0" err="1"/>
              <a:t>Lisani</a:t>
            </a:r>
            <a:r>
              <a:rPr lang="en-ID" dirty="0"/>
              <a:t> </a:t>
            </a:r>
            <a:r>
              <a:rPr lang="en-ID" dirty="0" err="1"/>
              <a:t>Alaf</a:t>
            </a:r>
            <a:r>
              <a:rPr lang="en-ID" dirty="0"/>
              <a:t> Jaya can meet your trading needs.</a:t>
            </a:r>
          </a:p>
          <a:p>
            <a:pPr marL="148590" indent="0" algn="just">
              <a:buNone/>
            </a:pPr>
            <a:endParaRPr lang="en-ID" dirty="0"/>
          </a:p>
          <a:p>
            <a:pPr marL="148590" indent="0" algn="just">
              <a:buNone/>
            </a:pPr>
            <a:r>
              <a:rPr lang="en-ID" dirty="0"/>
              <a:t>Mobile No. 	: 	+6282384141531</a:t>
            </a:r>
          </a:p>
          <a:p>
            <a:pPr marL="148590" indent="0" algn="just">
              <a:buNone/>
            </a:pPr>
            <a:r>
              <a:rPr lang="en-ID" dirty="0"/>
              <a:t>E-mail		: 	</a:t>
            </a:r>
            <a:r>
              <a:rPr lang="en-ID" dirty="0">
                <a:hlinkClick r:id="rId2"/>
              </a:rPr>
              <a:t>info@lisanialafjaya.com</a:t>
            </a:r>
            <a:endParaRPr lang="en-ID" dirty="0"/>
          </a:p>
          <a:p>
            <a:pPr marL="148590" indent="0" algn="just">
              <a:buNone/>
            </a:pPr>
            <a:r>
              <a:rPr lang="en-ID" dirty="0"/>
              <a:t>				</a:t>
            </a:r>
            <a:r>
              <a:rPr lang="en-ID" dirty="0">
                <a:hlinkClick r:id="rId3"/>
              </a:rPr>
              <a:t>lisani.alafjaya@gmail.com</a:t>
            </a:r>
            <a:endParaRPr lang="en-ID" dirty="0"/>
          </a:p>
          <a:p>
            <a:pPr marL="148590" indent="0" algn="just">
              <a:buNone/>
            </a:pPr>
            <a:endParaRPr lang="en-ID" dirty="0"/>
          </a:p>
          <a:p>
            <a:pPr marL="14859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864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/>
          <p:nvPr/>
        </p:nvSpPr>
        <p:spPr>
          <a:xfrm>
            <a:off x="2540605" y="2793702"/>
            <a:ext cx="4047619" cy="92333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>
                <a:solidFill>
                  <a:srgbClr val="7A491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ek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4266</TotalTime>
  <Words>810</Words>
  <Application>Microsoft Office PowerPoint</Application>
  <PresentationFormat>On-screen Show (4:3)</PresentationFormat>
  <Paragraphs>97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Rounded</vt:lpstr>
      <vt:lpstr>Noto Sans Symbols</vt:lpstr>
      <vt:lpstr>Libre Franklin Medium</vt:lpstr>
      <vt:lpstr>Gill Sans</vt:lpstr>
      <vt:lpstr>Libre Franklin</vt:lpstr>
      <vt:lpstr>Cooper Black</vt:lpstr>
      <vt:lpstr>Arial</vt:lpstr>
      <vt:lpstr>Trek</vt:lpstr>
      <vt:lpstr>PowerPoint Presentation</vt:lpstr>
      <vt:lpstr>EXECUTIVE SUMMARY</vt:lpstr>
      <vt:lpstr>COMPANY OVERVIEW</vt:lpstr>
      <vt:lpstr>VISION &amp; MISSION</vt:lpstr>
      <vt:lpstr>CORE VALUES:</vt:lpstr>
      <vt:lpstr>OUR SERVICES</vt:lpstr>
      <vt:lpstr>COMPANY STRUCTURE</vt:lpstr>
      <vt:lpstr>COMPANY’S CREDENTIAL</vt:lpstr>
      <vt:lpstr>OUR PORTFOLIO</vt:lpstr>
      <vt:lpstr>GOODS &amp; PRODUCTS</vt:lpstr>
      <vt:lpstr>GOODS &amp; PRODUCTS</vt:lpstr>
      <vt:lpstr>WHY CHOOSE US?</vt:lpstr>
      <vt:lpstr>TARGET MARKET</vt:lpstr>
      <vt:lpstr>KEY PARTNERSHIPS &amp; CLIENTS</vt:lpstr>
      <vt:lpstr>CONTACT 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lisani</dc:creator>
  <cp:lastModifiedBy>lenovopf40nfj2@outlook.com</cp:lastModifiedBy>
  <cp:revision>3</cp:revision>
  <dcterms:created xsi:type="dcterms:W3CDTF">2016-02-03T12:53:25Z</dcterms:created>
  <dcterms:modified xsi:type="dcterms:W3CDTF">2026-08-18T08:43:28Z</dcterms:modified>
</cp:coreProperties>
</file>